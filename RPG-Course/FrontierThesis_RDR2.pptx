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2" d="100"/>
          <a:sy n="132" d="100"/>
        </p:scale>
        <p:origin x="80" y="10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6843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21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2500"/>
          </a:solidFill>
          <a:ln/>
        </p:spPr>
        <p:txBody>
          <a:bodyPr/>
          <a:lstStyle/>
          <a:p>
            <a:endParaRPr lang="en-US"/>
          </a:p>
        </p:txBody>
      </p:sp>
      <p:sp>
        <p:nvSpPr>
          <p:cNvPr id="3" name="Shape 1"/>
          <p:cNvSpPr/>
          <p:nvPr/>
        </p:nvSpPr>
        <p:spPr>
          <a:xfrm>
            <a:off x="0" y="5088636"/>
            <a:ext cx="9144000" cy="54864"/>
          </a:xfrm>
          <a:prstGeom prst="rect">
            <a:avLst/>
          </a:prstGeom>
          <a:solidFill>
            <a:srgbClr val="8B2500"/>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160520" y="640080"/>
            <a:ext cx="822960" cy="822960"/>
          </a:xfrm>
          <a:prstGeom prst="rect">
            <a:avLst/>
          </a:prstGeom>
        </p:spPr>
      </p:pic>
      <p:sp>
        <p:nvSpPr>
          <p:cNvPr id="5" name="Text 2"/>
          <p:cNvSpPr/>
          <p:nvPr/>
        </p:nvSpPr>
        <p:spPr>
          <a:xfrm>
            <a:off x="731520" y="1645920"/>
            <a:ext cx="7680960" cy="1463040"/>
          </a:xfrm>
          <a:prstGeom prst="rect">
            <a:avLst/>
          </a:prstGeom>
          <a:noFill/>
          <a:ln/>
        </p:spPr>
        <p:txBody>
          <a:bodyPr wrap="square" rtlCol="0" anchor="ctr"/>
          <a:lstStyle/>
          <a:p>
            <a:pPr marL="0" indent="0" algn="ctr">
              <a:lnSpc>
                <a:spcPct val="115000"/>
              </a:lnSpc>
              <a:buNone/>
            </a:pPr>
            <a:r>
              <a:rPr lang="en-US" sz="3200" b="1" kern="0" spc="200" dirty="0">
                <a:solidFill>
                  <a:srgbClr val="F2E8D5"/>
                </a:solidFill>
                <a:latin typeface="Georgia" pitchFamily="34" charset="0"/>
                <a:ea typeface="Georgia" pitchFamily="34" charset="-122"/>
                <a:cs typeface="Georgia" pitchFamily="34" charset="-120"/>
              </a:rPr>
              <a:t>THE FRONTIER THESIS</a:t>
            </a:r>
            <a:endParaRPr lang="en-US" sz="3200" dirty="0"/>
          </a:p>
          <a:p>
            <a:pPr marL="0" indent="0" algn="ctr">
              <a:lnSpc>
                <a:spcPct val="115000"/>
              </a:lnSpc>
              <a:buNone/>
            </a:pPr>
            <a:r>
              <a:rPr lang="en-US" sz="3200" b="1" kern="0" spc="200" dirty="0">
                <a:solidFill>
                  <a:srgbClr val="F2E8D5"/>
                </a:solidFill>
                <a:latin typeface="Georgia" pitchFamily="34" charset="0"/>
                <a:ea typeface="Georgia" pitchFamily="34" charset="-122"/>
                <a:cs typeface="Georgia" pitchFamily="34" charset="-120"/>
              </a:rPr>
              <a:t>&amp; </a:t>
            </a:r>
            <a:r>
              <a:rPr lang="en-US" sz="3200" b="1" i="1" kern="0" spc="200" dirty="0">
                <a:solidFill>
                  <a:srgbClr val="F2E8D5"/>
                </a:solidFill>
                <a:latin typeface="Georgia" pitchFamily="34" charset="0"/>
                <a:ea typeface="Georgia" pitchFamily="34" charset="-122"/>
                <a:cs typeface="Georgia" pitchFamily="34" charset="-120"/>
              </a:rPr>
              <a:t>RED DEAD REDEMPTION 2</a:t>
            </a:r>
            <a:endParaRPr lang="en-US" sz="3200" i="1" dirty="0"/>
          </a:p>
        </p:txBody>
      </p:sp>
      <p:sp>
        <p:nvSpPr>
          <p:cNvPr id="6" name="Text 3"/>
          <p:cNvSpPr/>
          <p:nvPr/>
        </p:nvSpPr>
        <p:spPr>
          <a:xfrm>
            <a:off x="1371600" y="3154680"/>
            <a:ext cx="6400800" cy="731520"/>
          </a:xfrm>
          <a:prstGeom prst="rect">
            <a:avLst/>
          </a:prstGeom>
          <a:noFill/>
          <a:ln/>
        </p:spPr>
        <p:txBody>
          <a:bodyPr wrap="square" rtlCol="0" anchor="ctr"/>
          <a:lstStyle/>
          <a:p>
            <a:pPr marL="0" indent="0" algn="ctr">
              <a:lnSpc>
                <a:spcPct val="130000"/>
              </a:lnSpc>
              <a:buNone/>
            </a:pPr>
            <a:r>
              <a:rPr lang="en-US" sz="1600" i="1" dirty="0">
                <a:solidFill>
                  <a:srgbClr val="C4854C"/>
                </a:solidFill>
                <a:latin typeface="Calibri" pitchFamily="34" charset="0"/>
                <a:ea typeface="Calibri" pitchFamily="34" charset="-122"/>
                <a:cs typeface="Calibri" pitchFamily="34" charset="-120"/>
              </a:rPr>
              <a:t>Frederick Jackson Turner's American Frontier</a:t>
            </a:r>
            <a:endParaRPr lang="en-US" sz="1600" dirty="0"/>
          </a:p>
          <a:p>
            <a:pPr marL="0" indent="0" algn="ctr">
              <a:lnSpc>
                <a:spcPct val="130000"/>
              </a:lnSpc>
              <a:buNone/>
            </a:pPr>
            <a:r>
              <a:rPr lang="en-US" sz="1600" i="1" dirty="0">
                <a:solidFill>
                  <a:srgbClr val="C4854C"/>
                </a:solidFill>
                <a:latin typeface="Calibri" pitchFamily="34" charset="0"/>
                <a:ea typeface="Calibri" pitchFamily="34" charset="-122"/>
                <a:cs typeface="Calibri" pitchFamily="34" charset="-120"/>
              </a:rPr>
              <a:t>in the Digital Wilderness</a:t>
            </a:r>
            <a:endParaRPr lang="en-US" sz="1600" dirty="0"/>
          </a:p>
        </p:txBody>
      </p:sp>
      <p:sp>
        <p:nvSpPr>
          <p:cNvPr id="7" name="Shape 4"/>
          <p:cNvSpPr/>
          <p:nvPr/>
        </p:nvSpPr>
        <p:spPr>
          <a:xfrm>
            <a:off x="3200400" y="4023360"/>
            <a:ext cx="2743200" cy="0"/>
          </a:xfrm>
          <a:prstGeom prst="line">
            <a:avLst/>
          </a:prstGeom>
          <a:noFill/>
          <a:ln w="19050">
            <a:solidFill>
              <a:srgbClr val="8B2500"/>
            </a:solidFill>
            <a:prstDash val="solid"/>
          </a:ln>
        </p:spPr>
        <p:txBody>
          <a:bodyPr/>
          <a:lstStyle/>
          <a:p>
            <a:endParaRPr lang="en-US"/>
          </a:p>
        </p:txBody>
      </p:sp>
      <p:sp>
        <p:nvSpPr>
          <p:cNvPr id="8" name="Text 5"/>
          <p:cNvSpPr/>
          <p:nvPr/>
        </p:nvSpPr>
        <p:spPr>
          <a:xfrm>
            <a:off x="1371600" y="4206240"/>
            <a:ext cx="6400800" cy="457200"/>
          </a:xfrm>
          <a:prstGeom prst="rect">
            <a:avLst/>
          </a:prstGeom>
          <a:noFill/>
          <a:ln/>
        </p:spPr>
        <p:txBody>
          <a:bodyPr wrap="square" rtlCol="0" anchor="ctr"/>
          <a:lstStyle/>
          <a:p>
            <a:pPr marL="0" indent="0" algn="ctr">
              <a:buNone/>
            </a:pPr>
            <a:r>
              <a:rPr lang="en-US" sz="1400" dirty="0">
                <a:solidFill>
                  <a:srgbClr val="8A7B6B"/>
                </a:solidFill>
                <a:latin typeface="Calibri" pitchFamily="34" charset="0"/>
                <a:ea typeface="Calibri" pitchFamily="34" charset="-122"/>
                <a:cs typeface="Calibri" pitchFamily="34" charset="-120"/>
              </a:rPr>
              <a:t>RPGs &amp; the Humanities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0E4"/>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8B2500"/>
          </a:solidFill>
          <a:ln/>
        </p:spPr>
        <p:txBody>
          <a:bodyPr/>
          <a:lstStyle/>
          <a:p>
            <a:endParaRPr lang="en-US"/>
          </a:p>
        </p:txBody>
      </p:sp>
      <p:sp>
        <p:nvSpPr>
          <p:cNvPr id="3" name="Text 1"/>
          <p:cNvSpPr/>
          <p:nvPr/>
        </p:nvSpPr>
        <p:spPr>
          <a:xfrm>
            <a:off x="640080" y="365760"/>
            <a:ext cx="7772400" cy="640080"/>
          </a:xfrm>
          <a:prstGeom prst="rect">
            <a:avLst/>
          </a:prstGeom>
          <a:noFill/>
          <a:ln/>
        </p:spPr>
        <p:txBody>
          <a:bodyPr wrap="square" lIns="0" tIns="0" rIns="0" bIns="0" rtlCol="0" anchor="ctr"/>
          <a:lstStyle/>
          <a:p>
            <a:pPr marL="0" indent="0">
              <a:buNone/>
            </a:pPr>
            <a:r>
              <a:rPr lang="en-US" sz="2800" b="1" dirty="0">
                <a:solidFill>
                  <a:srgbClr val="1A1210"/>
                </a:solidFill>
                <a:latin typeface="Georgia" pitchFamily="34" charset="0"/>
                <a:ea typeface="Georgia" pitchFamily="34" charset="-122"/>
                <a:cs typeface="Georgia" pitchFamily="34" charset="-120"/>
              </a:rPr>
              <a:t>How does RDR reflect Turner’s Thesis?</a:t>
            </a:r>
            <a:endParaRPr lang="en-US" sz="2800" dirty="0"/>
          </a:p>
        </p:txBody>
      </p:sp>
      <p:pic>
        <p:nvPicPr>
          <p:cNvPr id="4" name="Image 0" descr="preencoded.png"/>
          <p:cNvPicPr>
            <a:picLocks noChangeAspect="1"/>
          </p:cNvPicPr>
          <p:nvPr/>
        </p:nvPicPr>
        <p:blipFill>
          <a:blip r:embed="rId3"/>
          <a:stretch>
            <a:fillRect/>
          </a:stretch>
        </p:blipFill>
        <p:spPr>
          <a:xfrm>
            <a:off x="640080" y="1280160"/>
            <a:ext cx="320040" cy="320040"/>
          </a:xfrm>
          <a:prstGeom prst="rect">
            <a:avLst/>
          </a:prstGeom>
        </p:spPr>
      </p:pic>
      <p:sp>
        <p:nvSpPr>
          <p:cNvPr id="5" name="Text 2"/>
          <p:cNvSpPr/>
          <p:nvPr/>
        </p:nvSpPr>
        <p:spPr>
          <a:xfrm>
            <a:off x="1143000" y="1216152"/>
            <a:ext cx="4572000" cy="274320"/>
          </a:xfrm>
          <a:prstGeom prst="rect">
            <a:avLst/>
          </a:prstGeom>
          <a:noFill/>
          <a:ln/>
        </p:spPr>
        <p:txBody>
          <a:bodyPr wrap="square" lIns="0" tIns="0" rIns="0" bIns="0" rtlCol="0" anchor="ctr"/>
          <a:lstStyle/>
          <a:p>
            <a:pPr marL="0" indent="0">
              <a:buNone/>
            </a:pPr>
            <a:r>
              <a:rPr lang="en-US" sz="1400" b="1" dirty="0">
                <a:solidFill>
                  <a:srgbClr val="1A1210"/>
                </a:solidFill>
                <a:latin typeface="Georgia" pitchFamily="34" charset="0"/>
                <a:ea typeface="Georgia" pitchFamily="34" charset="-122"/>
                <a:cs typeface="Georgia" pitchFamily="34" charset="-120"/>
              </a:rPr>
              <a:t>Turner's Frontier Thesis (1893)</a:t>
            </a:r>
            <a:endParaRPr lang="en-US" sz="1400" dirty="0"/>
          </a:p>
        </p:txBody>
      </p:sp>
      <p:sp>
        <p:nvSpPr>
          <p:cNvPr id="6" name="Text 3"/>
          <p:cNvSpPr/>
          <p:nvPr/>
        </p:nvSpPr>
        <p:spPr>
          <a:xfrm>
            <a:off x="1143000" y="1472184"/>
            <a:ext cx="6858000" cy="274320"/>
          </a:xfrm>
          <a:prstGeom prst="rect">
            <a:avLst/>
          </a:prstGeom>
          <a:noFill/>
          <a:ln/>
        </p:spPr>
        <p:txBody>
          <a:bodyPr wrap="square" lIns="0" tIns="0" rIns="0" bIns="0" rtlCol="0" anchor="ctr"/>
          <a:lstStyle/>
          <a:p>
            <a:pPr marL="0" indent="0">
              <a:buNone/>
            </a:pPr>
            <a:r>
              <a:rPr lang="en-US" sz="1100" dirty="0">
                <a:solidFill>
                  <a:srgbClr val="8A7B6B"/>
                </a:solidFill>
                <a:latin typeface="Calibri" pitchFamily="34" charset="0"/>
                <a:ea typeface="Calibri" pitchFamily="34" charset="-122"/>
                <a:cs typeface="Calibri" pitchFamily="34" charset="-120"/>
              </a:rPr>
              <a:t>The essay that redefined how Americans understood their own history</a:t>
            </a:r>
            <a:endParaRPr lang="en-US" sz="1100" dirty="0"/>
          </a:p>
        </p:txBody>
      </p:sp>
      <p:pic>
        <p:nvPicPr>
          <p:cNvPr id="7" name="Image 1" descr="preencoded.png"/>
          <p:cNvPicPr>
            <a:picLocks noChangeAspect="1"/>
          </p:cNvPicPr>
          <p:nvPr/>
        </p:nvPicPr>
        <p:blipFill>
          <a:blip r:embed="rId4"/>
          <a:stretch>
            <a:fillRect/>
          </a:stretch>
        </p:blipFill>
        <p:spPr>
          <a:xfrm>
            <a:off x="640080" y="1874520"/>
            <a:ext cx="320040" cy="320040"/>
          </a:xfrm>
          <a:prstGeom prst="rect">
            <a:avLst/>
          </a:prstGeom>
        </p:spPr>
      </p:pic>
      <p:sp>
        <p:nvSpPr>
          <p:cNvPr id="8" name="Text 4"/>
          <p:cNvSpPr/>
          <p:nvPr/>
        </p:nvSpPr>
        <p:spPr>
          <a:xfrm>
            <a:off x="1143000" y="1810512"/>
            <a:ext cx="4572000" cy="274320"/>
          </a:xfrm>
          <a:prstGeom prst="rect">
            <a:avLst/>
          </a:prstGeom>
          <a:noFill/>
          <a:ln/>
        </p:spPr>
        <p:txBody>
          <a:bodyPr wrap="square" lIns="0" tIns="0" rIns="0" bIns="0" rtlCol="0" anchor="ctr"/>
          <a:lstStyle/>
          <a:p>
            <a:pPr marL="0" indent="0">
              <a:buNone/>
            </a:pPr>
            <a:r>
              <a:rPr lang="en-US" sz="1400" b="1" dirty="0">
                <a:solidFill>
                  <a:srgbClr val="1A1210"/>
                </a:solidFill>
                <a:latin typeface="Georgia" pitchFamily="34" charset="0"/>
                <a:ea typeface="Georgia" pitchFamily="34" charset="-122"/>
                <a:cs typeface="Georgia" pitchFamily="34" charset="-120"/>
              </a:rPr>
              <a:t>The Closing of the Frontier</a:t>
            </a:r>
            <a:endParaRPr lang="en-US" sz="1400" dirty="0"/>
          </a:p>
        </p:txBody>
      </p:sp>
      <p:sp>
        <p:nvSpPr>
          <p:cNvPr id="9" name="Text 5"/>
          <p:cNvSpPr/>
          <p:nvPr/>
        </p:nvSpPr>
        <p:spPr>
          <a:xfrm>
            <a:off x="1143000" y="2066544"/>
            <a:ext cx="6858000" cy="274320"/>
          </a:xfrm>
          <a:prstGeom prst="rect">
            <a:avLst/>
          </a:prstGeom>
          <a:noFill/>
          <a:ln/>
        </p:spPr>
        <p:txBody>
          <a:bodyPr wrap="square" lIns="0" tIns="0" rIns="0" bIns="0" rtlCol="0" anchor="ctr"/>
          <a:lstStyle/>
          <a:p>
            <a:pPr marL="0" indent="0">
              <a:buNone/>
            </a:pPr>
            <a:r>
              <a:rPr lang="en-US" sz="1100" dirty="0">
                <a:solidFill>
                  <a:srgbClr val="8A7B6B"/>
                </a:solidFill>
                <a:latin typeface="Calibri" pitchFamily="34" charset="0"/>
                <a:ea typeface="Calibri" pitchFamily="34" charset="-122"/>
                <a:cs typeface="Calibri" pitchFamily="34" charset="-120"/>
              </a:rPr>
              <a:t>Running out of room — the 1890 Census and the end of free land</a:t>
            </a:r>
            <a:endParaRPr lang="en-US" sz="1100" dirty="0"/>
          </a:p>
        </p:txBody>
      </p:sp>
      <p:pic>
        <p:nvPicPr>
          <p:cNvPr id="10" name="Image 2" descr="preencoded.png"/>
          <p:cNvPicPr>
            <a:picLocks noChangeAspect="1"/>
          </p:cNvPicPr>
          <p:nvPr/>
        </p:nvPicPr>
        <p:blipFill>
          <a:blip r:embed="rId5"/>
          <a:stretch>
            <a:fillRect/>
          </a:stretch>
        </p:blipFill>
        <p:spPr>
          <a:xfrm>
            <a:off x="640080" y="2468880"/>
            <a:ext cx="320040" cy="320040"/>
          </a:xfrm>
          <a:prstGeom prst="rect">
            <a:avLst/>
          </a:prstGeom>
        </p:spPr>
      </p:pic>
      <p:sp>
        <p:nvSpPr>
          <p:cNvPr id="11" name="Text 6"/>
          <p:cNvSpPr/>
          <p:nvPr/>
        </p:nvSpPr>
        <p:spPr>
          <a:xfrm>
            <a:off x="1143000" y="2404872"/>
            <a:ext cx="4572000" cy="274320"/>
          </a:xfrm>
          <a:prstGeom prst="rect">
            <a:avLst/>
          </a:prstGeom>
          <a:noFill/>
          <a:ln/>
        </p:spPr>
        <p:txBody>
          <a:bodyPr wrap="square" lIns="0" tIns="0" rIns="0" bIns="0" rtlCol="0" anchor="ctr"/>
          <a:lstStyle/>
          <a:p>
            <a:pPr marL="0" indent="0">
              <a:buNone/>
            </a:pPr>
            <a:r>
              <a:rPr lang="en-US" sz="1400" b="1" dirty="0">
                <a:solidFill>
                  <a:srgbClr val="1A1210"/>
                </a:solidFill>
                <a:latin typeface="Georgia" pitchFamily="34" charset="0"/>
                <a:ea typeface="Georgia" pitchFamily="34" charset="-122"/>
                <a:cs typeface="Georgia" pitchFamily="34" charset="-120"/>
              </a:rPr>
              <a:t>Civilization vs. Savagery</a:t>
            </a:r>
            <a:endParaRPr lang="en-US" sz="1400" dirty="0"/>
          </a:p>
        </p:txBody>
      </p:sp>
      <p:sp>
        <p:nvSpPr>
          <p:cNvPr id="12" name="Text 7"/>
          <p:cNvSpPr/>
          <p:nvPr/>
        </p:nvSpPr>
        <p:spPr>
          <a:xfrm>
            <a:off x="1143000" y="2660904"/>
            <a:ext cx="6858000" cy="274320"/>
          </a:xfrm>
          <a:prstGeom prst="rect">
            <a:avLst/>
          </a:prstGeom>
          <a:noFill/>
          <a:ln/>
        </p:spPr>
        <p:txBody>
          <a:bodyPr wrap="square" lIns="0" tIns="0" rIns="0" bIns="0" rtlCol="0" anchor="ctr"/>
          <a:lstStyle/>
          <a:p>
            <a:pPr marL="0" indent="0">
              <a:buNone/>
            </a:pPr>
            <a:r>
              <a:rPr lang="en-US" sz="1100" dirty="0">
                <a:solidFill>
                  <a:srgbClr val="8A7B6B"/>
                </a:solidFill>
                <a:latin typeface="Calibri" pitchFamily="34" charset="0"/>
                <a:ea typeface="Calibri" pitchFamily="34" charset="-122"/>
                <a:cs typeface="Calibri" pitchFamily="34" charset="-120"/>
              </a:rPr>
              <a:t>The meeting point Turner described, dramatized in RDR2</a:t>
            </a:r>
            <a:endParaRPr lang="en-US" sz="1100" dirty="0"/>
          </a:p>
        </p:txBody>
      </p:sp>
      <p:pic>
        <p:nvPicPr>
          <p:cNvPr id="13" name="Image 3" descr="preencoded.png"/>
          <p:cNvPicPr>
            <a:picLocks noChangeAspect="1"/>
          </p:cNvPicPr>
          <p:nvPr/>
        </p:nvPicPr>
        <p:blipFill>
          <a:blip r:embed="rId6"/>
          <a:stretch>
            <a:fillRect/>
          </a:stretch>
        </p:blipFill>
        <p:spPr>
          <a:xfrm>
            <a:off x="640080" y="3063240"/>
            <a:ext cx="320040" cy="320040"/>
          </a:xfrm>
          <a:prstGeom prst="rect">
            <a:avLst/>
          </a:prstGeom>
        </p:spPr>
      </p:pic>
      <p:sp>
        <p:nvSpPr>
          <p:cNvPr id="14" name="Text 8"/>
          <p:cNvSpPr/>
          <p:nvPr/>
        </p:nvSpPr>
        <p:spPr>
          <a:xfrm>
            <a:off x="1143000" y="2999232"/>
            <a:ext cx="4572000" cy="274320"/>
          </a:xfrm>
          <a:prstGeom prst="rect">
            <a:avLst/>
          </a:prstGeom>
          <a:noFill/>
          <a:ln/>
        </p:spPr>
        <p:txBody>
          <a:bodyPr wrap="square" lIns="0" tIns="0" rIns="0" bIns="0" rtlCol="0" anchor="ctr"/>
          <a:lstStyle/>
          <a:p>
            <a:pPr marL="0" indent="0">
              <a:buNone/>
            </a:pPr>
            <a:r>
              <a:rPr lang="en-US" sz="1400" b="1" dirty="0">
                <a:solidFill>
                  <a:srgbClr val="1A1210"/>
                </a:solidFill>
                <a:latin typeface="Georgia" pitchFamily="34" charset="0"/>
                <a:ea typeface="Georgia" pitchFamily="34" charset="-122"/>
                <a:cs typeface="Georgia" pitchFamily="34" charset="-120"/>
              </a:rPr>
              <a:t>Rugged Individualism &amp; Outlaws</a:t>
            </a:r>
            <a:endParaRPr lang="en-US" sz="1400" dirty="0"/>
          </a:p>
        </p:txBody>
      </p:sp>
      <p:sp>
        <p:nvSpPr>
          <p:cNvPr id="15" name="Text 9"/>
          <p:cNvSpPr/>
          <p:nvPr/>
        </p:nvSpPr>
        <p:spPr>
          <a:xfrm>
            <a:off x="1143000" y="3255264"/>
            <a:ext cx="6858000" cy="274320"/>
          </a:xfrm>
          <a:prstGeom prst="rect">
            <a:avLst/>
          </a:prstGeom>
          <a:noFill/>
          <a:ln/>
        </p:spPr>
        <p:txBody>
          <a:bodyPr wrap="square" lIns="0" tIns="0" rIns="0" bIns="0" rtlCol="0" anchor="ctr"/>
          <a:lstStyle/>
          <a:p>
            <a:pPr marL="0" indent="0">
              <a:buNone/>
            </a:pPr>
            <a:r>
              <a:rPr lang="en-US" sz="1100" dirty="0">
                <a:solidFill>
                  <a:srgbClr val="8A7B6B"/>
                </a:solidFill>
                <a:latin typeface="Calibri" pitchFamily="34" charset="0"/>
                <a:ea typeface="Calibri" pitchFamily="34" charset="-122"/>
                <a:cs typeface="Calibri" pitchFamily="34" charset="-120"/>
              </a:rPr>
              <a:t>Anti-government sentiment from the frontier to the Van der Linde gang</a:t>
            </a:r>
            <a:endParaRPr lang="en-US" sz="1100" dirty="0"/>
          </a:p>
        </p:txBody>
      </p:sp>
      <p:pic>
        <p:nvPicPr>
          <p:cNvPr id="16" name="Image 4" descr="preencoded.png"/>
          <p:cNvPicPr>
            <a:picLocks noChangeAspect="1"/>
          </p:cNvPicPr>
          <p:nvPr/>
        </p:nvPicPr>
        <p:blipFill>
          <a:blip r:embed="rId7"/>
          <a:stretch>
            <a:fillRect/>
          </a:stretch>
        </p:blipFill>
        <p:spPr>
          <a:xfrm>
            <a:off x="640080" y="3657600"/>
            <a:ext cx="320040" cy="320040"/>
          </a:xfrm>
          <a:prstGeom prst="rect">
            <a:avLst/>
          </a:prstGeom>
        </p:spPr>
      </p:pic>
      <p:sp>
        <p:nvSpPr>
          <p:cNvPr id="17" name="Text 10"/>
          <p:cNvSpPr/>
          <p:nvPr/>
        </p:nvSpPr>
        <p:spPr>
          <a:xfrm>
            <a:off x="1143000" y="3593592"/>
            <a:ext cx="4572000" cy="274320"/>
          </a:xfrm>
          <a:prstGeom prst="rect">
            <a:avLst/>
          </a:prstGeom>
          <a:noFill/>
          <a:ln/>
        </p:spPr>
        <p:txBody>
          <a:bodyPr wrap="square" lIns="0" tIns="0" rIns="0" bIns="0" rtlCol="0" anchor="ctr"/>
          <a:lstStyle/>
          <a:p>
            <a:pPr marL="0" indent="0">
              <a:buNone/>
            </a:pPr>
            <a:r>
              <a:rPr lang="en-US" sz="1400" b="1" dirty="0">
                <a:solidFill>
                  <a:srgbClr val="1A1210"/>
                </a:solidFill>
                <a:latin typeface="Georgia" pitchFamily="34" charset="0"/>
                <a:ea typeface="Georgia" pitchFamily="34" charset="-122"/>
                <a:cs typeface="Georgia" pitchFamily="34" charset="-120"/>
              </a:rPr>
              <a:t>Composite Nationality</a:t>
            </a:r>
            <a:endParaRPr lang="en-US" sz="1400" dirty="0"/>
          </a:p>
        </p:txBody>
      </p:sp>
      <p:sp>
        <p:nvSpPr>
          <p:cNvPr id="18" name="Text 11"/>
          <p:cNvSpPr/>
          <p:nvPr/>
        </p:nvSpPr>
        <p:spPr>
          <a:xfrm>
            <a:off x="1143000" y="3849624"/>
            <a:ext cx="6858000" cy="274320"/>
          </a:xfrm>
          <a:prstGeom prst="rect">
            <a:avLst/>
          </a:prstGeom>
          <a:noFill/>
          <a:ln/>
        </p:spPr>
        <p:txBody>
          <a:bodyPr wrap="square" lIns="0" tIns="0" rIns="0" bIns="0" rtlCol="0" anchor="ctr"/>
          <a:lstStyle/>
          <a:p>
            <a:pPr marL="0" indent="0">
              <a:buNone/>
            </a:pPr>
            <a:r>
              <a:rPr lang="en-US" sz="1100" dirty="0">
                <a:solidFill>
                  <a:srgbClr val="8A7B6B"/>
                </a:solidFill>
                <a:latin typeface="Calibri" pitchFamily="34" charset="0"/>
                <a:ea typeface="Calibri" pitchFamily="34" charset="-122"/>
                <a:cs typeface="Calibri" pitchFamily="34" charset="-120"/>
              </a:rPr>
              <a:t>The multicultural frontier and the gang as a melting pot</a:t>
            </a:r>
            <a:endParaRPr lang="en-US" sz="1100" dirty="0"/>
          </a:p>
        </p:txBody>
      </p:sp>
      <p:pic>
        <p:nvPicPr>
          <p:cNvPr id="19" name="Image 5" descr="preencoded.png"/>
          <p:cNvPicPr>
            <a:picLocks noChangeAspect="1"/>
          </p:cNvPicPr>
          <p:nvPr/>
        </p:nvPicPr>
        <p:blipFill>
          <a:blip r:embed="rId8"/>
          <a:stretch>
            <a:fillRect/>
          </a:stretch>
        </p:blipFill>
        <p:spPr>
          <a:xfrm>
            <a:off x="640080" y="4251960"/>
            <a:ext cx="320040" cy="320040"/>
          </a:xfrm>
          <a:prstGeom prst="rect">
            <a:avLst/>
          </a:prstGeom>
        </p:spPr>
      </p:pic>
      <p:sp>
        <p:nvSpPr>
          <p:cNvPr id="20" name="Text 12"/>
          <p:cNvSpPr/>
          <p:nvPr/>
        </p:nvSpPr>
        <p:spPr>
          <a:xfrm>
            <a:off x="1143000" y="4187952"/>
            <a:ext cx="4572000" cy="274320"/>
          </a:xfrm>
          <a:prstGeom prst="rect">
            <a:avLst/>
          </a:prstGeom>
          <a:noFill/>
          <a:ln/>
        </p:spPr>
        <p:txBody>
          <a:bodyPr wrap="square" lIns="0" tIns="0" rIns="0" bIns="0" rtlCol="0" anchor="ctr"/>
          <a:lstStyle/>
          <a:p>
            <a:pPr marL="0" indent="0">
              <a:buNone/>
            </a:pPr>
            <a:r>
              <a:rPr lang="en-US" sz="1400" b="1" dirty="0">
                <a:solidFill>
                  <a:srgbClr val="1A1210"/>
                </a:solidFill>
                <a:latin typeface="Georgia" pitchFamily="34" charset="0"/>
                <a:ea typeface="Georgia" pitchFamily="34" charset="-122"/>
                <a:cs typeface="Georgia" pitchFamily="34" charset="-120"/>
              </a:rPr>
              <a:t>Critique &amp; New Western History</a:t>
            </a:r>
            <a:endParaRPr lang="en-US" sz="1400" dirty="0"/>
          </a:p>
        </p:txBody>
      </p:sp>
      <p:sp>
        <p:nvSpPr>
          <p:cNvPr id="21" name="Text 13"/>
          <p:cNvSpPr/>
          <p:nvPr/>
        </p:nvSpPr>
        <p:spPr>
          <a:xfrm>
            <a:off x="1143000" y="4443984"/>
            <a:ext cx="6858000" cy="274320"/>
          </a:xfrm>
          <a:prstGeom prst="rect">
            <a:avLst/>
          </a:prstGeom>
          <a:noFill/>
          <a:ln/>
        </p:spPr>
        <p:txBody>
          <a:bodyPr wrap="square" lIns="0" tIns="0" rIns="0" bIns="0" rtlCol="0" anchor="ctr"/>
          <a:lstStyle/>
          <a:p>
            <a:pPr marL="0" indent="0">
              <a:buNone/>
            </a:pPr>
            <a:r>
              <a:rPr lang="en-US" sz="1100" dirty="0">
                <a:solidFill>
                  <a:srgbClr val="8A7B6B"/>
                </a:solidFill>
                <a:latin typeface="Calibri" pitchFamily="34" charset="0"/>
                <a:ea typeface="Calibri" pitchFamily="34" charset="-122"/>
                <a:cs typeface="Calibri" pitchFamily="34" charset="-120"/>
              </a:rPr>
              <a:t>Where RDR2 pushes back against Turner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0E4"/>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8B2500"/>
          </a:solidFill>
          <a:ln/>
        </p:spPr>
        <p:txBody>
          <a:bodyPr/>
          <a:lstStyle/>
          <a:p>
            <a:endParaRPr lang="en-US"/>
          </a:p>
        </p:txBody>
      </p:sp>
      <p:sp>
        <p:nvSpPr>
          <p:cNvPr id="3" name="Text 1"/>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1210"/>
                </a:solidFill>
                <a:latin typeface="Georgia" pitchFamily="34" charset="0"/>
                <a:ea typeface="Georgia" pitchFamily="34" charset="-122"/>
                <a:cs typeface="Georgia" pitchFamily="34" charset="-120"/>
              </a:rPr>
              <a:t>Turner's Frontier Thesis</a:t>
            </a:r>
            <a:endParaRPr lang="en-US" sz="3200" dirty="0"/>
          </a:p>
        </p:txBody>
      </p:sp>
      <p:sp>
        <p:nvSpPr>
          <p:cNvPr id="4" name="Text 2"/>
          <p:cNvSpPr/>
          <p:nvPr/>
        </p:nvSpPr>
        <p:spPr>
          <a:xfrm>
            <a:off x="640080" y="914400"/>
            <a:ext cx="7772400" cy="320040"/>
          </a:xfrm>
          <a:prstGeom prst="rect">
            <a:avLst/>
          </a:prstGeom>
          <a:noFill/>
          <a:ln/>
        </p:spPr>
        <p:txBody>
          <a:bodyPr wrap="square" lIns="0" tIns="0" rIns="0" bIns="0" rtlCol="0" anchor="ctr"/>
          <a:lstStyle/>
          <a:p>
            <a:pPr marL="0" indent="0">
              <a:buNone/>
            </a:pPr>
            <a:r>
              <a:rPr lang="en-US" sz="1300" i="1" dirty="0">
                <a:solidFill>
                  <a:srgbClr val="8A7B6B"/>
                </a:solidFill>
                <a:latin typeface="Calibri" pitchFamily="34" charset="0"/>
                <a:ea typeface="Calibri" pitchFamily="34" charset="-122"/>
                <a:cs typeface="Calibri" pitchFamily="34" charset="-120"/>
              </a:rPr>
              <a:t>Chicago, 1893 — World's Columbian Exposition</a:t>
            </a:r>
            <a:endParaRPr lang="en-US" sz="1300" dirty="0"/>
          </a:p>
        </p:txBody>
      </p:sp>
      <p:sp>
        <p:nvSpPr>
          <p:cNvPr id="5" name="Shape 3"/>
          <p:cNvSpPr/>
          <p:nvPr/>
        </p:nvSpPr>
        <p:spPr>
          <a:xfrm>
            <a:off x="640080" y="1463040"/>
            <a:ext cx="7863840" cy="1188720"/>
          </a:xfrm>
          <a:prstGeom prst="rect">
            <a:avLst/>
          </a:prstGeom>
          <a:solidFill>
            <a:srgbClr val="F2E8D5"/>
          </a:solidFill>
          <a:ln/>
          <a:effectLst>
            <a:outerShdw blurRad="76200" dist="25400" dir="8100000" algn="bl" rotWithShape="0">
              <a:srgbClr val="000000">
                <a:alpha val="1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1600200"/>
            <a:ext cx="320040" cy="320040"/>
          </a:xfrm>
          <a:prstGeom prst="rect">
            <a:avLst/>
          </a:prstGeom>
        </p:spPr>
      </p:pic>
      <p:sp>
        <p:nvSpPr>
          <p:cNvPr id="7" name="Text 4"/>
          <p:cNvSpPr/>
          <p:nvPr/>
        </p:nvSpPr>
        <p:spPr>
          <a:xfrm>
            <a:off x="1325880" y="1554480"/>
            <a:ext cx="6949440" cy="1005840"/>
          </a:xfrm>
          <a:prstGeom prst="rect">
            <a:avLst/>
          </a:prstGeom>
          <a:noFill/>
          <a:ln/>
        </p:spPr>
        <p:txBody>
          <a:bodyPr wrap="square" lIns="0" tIns="0" rIns="0" bIns="0" rtlCol="0" anchor="ctr"/>
          <a:lstStyle/>
          <a:p>
            <a:pPr marL="0" indent="0">
              <a:buNone/>
            </a:pPr>
            <a:r>
              <a:rPr lang="en-US" sz="1500" i="1" dirty="0">
                <a:solidFill>
                  <a:srgbClr val="8B2500"/>
                </a:solidFill>
                <a:latin typeface="Georgia" pitchFamily="34" charset="0"/>
                <a:ea typeface="Georgia" pitchFamily="34" charset="-122"/>
                <a:cs typeface="Georgia" pitchFamily="34" charset="-120"/>
              </a:rPr>
              <a:t>The existence of an area of free land, its continuous recession, and the advance of American settlement westward explain American development.</a:t>
            </a:r>
            <a:endParaRPr lang="en-US" sz="1500" dirty="0"/>
          </a:p>
        </p:txBody>
      </p:sp>
      <p:sp>
        <p:nvSpPr>
          <p:cNvPr id="8" name="Shape 5"/>
          <p:cNvSpPr/>
          <p:nvPr/>
        </p:nvSpPr>
        <p:spPr>
          <a:xfrm>
            <a:off x="640080" y="2926080"/>
            <a:ext cx="3749040" cy="82296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9" name="Shape 6"/>
          <p:cNvSpPr/>
          <p:nvPr/>
        </p:nvSpPr>
        <p:spPr>
          <a:xfrm>
            <a:off x="640080" y="2926080"/>
            <a:ext cx="64008" cy="822960"/>
          </a:xfrm>
          <a:prstGeom prst="rect">
            <a:avLst/>
          </a:prstGeom>
          <a:solidFill>
            <a:srgbClr val="C4854C"/>
          </a:solidFill>
          <a:ln/>
        </p:spPr>
        <p:txBody>
          <a:bodyPr/>
          <a:lstStyle/>
          <a:p>
            <a:endParaRPr lang="en-US"/>
          </a:p>
        </p:txBody>
      </p:sp>
      <p:sp>
        <p:nvSpPr>
          <p:cNvPr id="10" name="Text 7"/>
          <p:cNvSpPr/>
          <p:nvPr/>
        </p:nvSpPr>
        <p:spPr>
          <a:xfrm>
            <a:off x="914400" y="2999232"/>
            <a:ext cx="3291840" cy="228600"/>
          </a:xfrm>
          <a:prstGeom prst="rect">
            <a:avLst/>
          </a:prstGeom>
          <a:noFill/>
          <a:ln/>
        </p:spPr>
        <p:txBody>
          <a:bodyPr wrap="square" lIns="0" tIns="0" rIns="0" bIns="0" rtlCol="0" anchor="ctr"/>
          <a:lstStyle/>
          <a:p>
            <a:pPr marL="0" indent="0">
              <a:buNone/>
            </a:pPr>
            <a:r>
              <a:rPr lang="en-US" sz="1200" b="1" dirty="0">
                <a:solidFill>
                  <a:srgbClr val="8B2500"/>
                </a:solidFill>
                <a:latin typeface="Georgia" pitchFamily="34" charset="0"/>
                <a:ea typeface="Georgia" pitchFamily="34" charset="-122"/>
                <a:cs typeface="Georgia" pitchFamily="34" charset="-120"/>
              </a:rPr>
              <a:t>The Core Argument</a:t>
            </a:r>
            <a:endParaRPr lang="en-US" sz="1200" dirty="0"/>
          </a:p>
        </p:txBody>
      </p:sp>
      <p:sp>
        <p:nvSpPr>
          <p:cNvPr id="11" name="Text 8"/>
          <p:cNvSpPr/>
          <p:nvPr/>
        </p:nvSpPr>
        <p:spPr>
          <a:xfrm>
            <a:off x="914400" y="3246120"/>
            <a:ext cx="3291840" cy="457200"/>
          </a:xfrm>
          <a:prstGeom prst="rect">
            <a:avLst/>
          </a:prstGeom>
          <a:noFill/>
          <a:ln/>
        </p:spPr>
        <p:txBody>
          <a:bodyPr wrap="square" lIns="0" tIns="0" rIns="0" bIns="0" rtlCol="0" anchor="ctr"/>
          <a:lstStyle/>
          <a:p>
            <a:pPr marL="0" indent="0">
              <a:buNone/>
            </a:pPr>
            <a:r>
              <a:rPr lang="en-US" sz="1050" dirty="0">
                <a:solidFill>
                  <a:srgbClr val="1A1210"/>
                </a:solidFill>
                <a:latin typeface="Calibri" pitchFamily="34" charset="0"/>
                <a:ea typeface="Calibri" pitchFamily="34" charset="-122"/>
                <a:cs typeface="Calibri" pitchFamily="34" charset="-120"/>
              </a:rPr>
              <a:t>American character and democracy were not inherited from Europe — they were forged on the frontier through struggle with the wilderness.</a:t>
            </a:r>
            <a:endParaRPr lang="en-US" sz="1050" dirty="0"/>
          </a:p>
        </p:txBody>
      </p:sp>
      <p:sp>
        <p:nvSpPr>
          <p:cNvPr id="12" name="Shape 9"/>
          <p:cNvSpPr/>
          <p:nvPr/>
        </p:nvSpPr>
        <p:spPr>
          <a:xfrm>
            <a:off x="640080" y="3886200"/>
            <a:ext cx="3749040" cy="82296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13" name="Shape 10"/>
          <p:cNvSpPr/>
          <p:nvPr/>
        </p:nvSpPr>
        <p:spPr>
          <a:xfrm>
            <a:off x="640080" y="3886200"/>
            <a:ext cx="64008" cy="822960"/>
          </a:xfrm>
          <a:prstGeom prst="rect">
            <a:avLst/>
          </a:prstGeom>
          <a:solidFill>
            <a:srgbClr val="C4854C"/>
          </a:solidFill>
          <a:ln/>
        </p:spPr>
        <p:txBody>
          <a:bodyPr/>
          <a:lstStyle/>
          <a:p>
            <a:endParaRPr lang="en-US"/>
          </a:p>
        </p:txBody>
      </p:sp>
      <p:sp>
        <p:nvSpPr>
          <p:cNvPr id="14" name="Text 11"/>
          <p:cNvSpPr/>
          <p:nvPr/>
        </p:nvSpPr>
        <p:spPr>
          <a:xfrm>
            <a:off x="914400" y="3959352"/>
            <a:ext cx="3291840" cy="228600"/>
          </a:xfrm>
          <a:prstGeom prst="rect">
            <a:avLst/>
          </a:prstGeom>
          <a:noFill/>
          <a:ln/>
        </p:spPr>
        <p:txBody>
          <a:bodyPr wrap="square" lIns="0" tIns="0" rIns="0" bIns="0" rtlCol="0" anchor="ctr"/>
          <a:lstStyle/>
          <a:p>
            <a:pPr marL="0" indent="0">
              <a:buNone/>
            </a:pPr>
            <a:r>
              <a:rPr lang="en-US" sz="1200" b="1" dirty="0">
                <a:solidFill>
                  <a:srgbClr val="8B2500"/>
                </a:solidFill>
                <a:latin typeface="Georgia" pitchFamily="34" charset="0"/>
                <a:ea typeface="Georgia" pitchFamily="34" charset="-122"/>
                <a:cs typeface="Georgia" pitchFamily="34" charset="-120"/>
              </a:rPr>
              <a:t>The Safety Valve</a:t>
            </a:r>
            <a:endParaRPr lang="en-US" sz="1200" dirty="0"/>
          </a:p>
        </p:txBody>
      </p:sp>
      <p:sp>
        <p:nvSpPr>
          <p:cNvPr id="15" name="Text 12"/>
          <p:cNvSpPr/>
          <p:nvPr/>
        </p:nvSpPr>
        <p:spPr>
          <a:xfrm>
            <a:off x="914400" y="4206240"/>
            <a:ext cx="3291840" cy="457200"/>
          </a:xfrm>
          <a:prstGeom prst="rect">
            <a:avLst/>
          </a:prstGeom>
          <a:noFill/>
          <a:ln/>
        </p:spPr>
        <p:txBody>
          <a:bodyPr wrap="square" lIns="0" tIns="0" rIns="0" bIns="0" rtlCol="0" anchor="ctr"/>
          <a:lstStyle/>
          <a:p>
            <a:pPr marL="0" indent="0">
              <a:buNone/>
            </a:pPr>
            <a:r>
              <a:rPr lang="en-US" sz="1050" dirty="0">
                <a:solidFill>
                  <a:srgbClr val="1A1210"/>
                </a:solidFill>
                <a:latin typeface="Calibri" pitchFamily="34" charset="0"/>
                <a:ea typeface="Calibri" pitchFamily="34" charset="-122"/>
                <a:cs typeface="Calibri" pitchFamily="34" charset="-120"/>
              </a:rPr>
              <a:t>Free western land relieved social tensions. When cities became crowded or oppressive, people could start over on the frontier.</a:t>
            </a:r>
            <a:endParaRPr lang="en-US" sz="1050" dirty="0"/>
          </a:p>
        </p:txBody>
      </p:sp>
      <p:sp>
        <p:nvSpPr>
          <p:cNvPr id="16" name="Shape 13"/>
          <p:cNvSpPr/>
          <p:nvPr/>
        </p:nvSpPr>
        <p:spPr>
          <a:xfrm>
            <a:off x="4754880" y="2926080"/>
            <a:ext cx="3749040" cy="82296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17" name="Shape 14"/>
          <p:cNvSpPr/>
          <p:nvPr/>
        </p:nvSpPr>
        <p:spPr>
          <a:xfrm>
            <a:off x="4754880" y="2926080"/>
            <a:ext cx="64008" cy="822960"/>
          </a:xfrm>
          <a:prstGeom prst="rect">
            <a:avLst/>
          </a:prstGeom>
          <a:solidFill>
            <a:srgbClr val="C4854C"/>
          </a:solidFill>
          <a:ln/>
        </p:spPr>
        <p:txBody>
          <a:bodyPr/>
          <a:lstStyle/>
          <a:p>
            <a:endParaRPr lang="en-US"/>
          </a:p>
        </p:txBody>
      </p:sp>
      <p:sp>
        <p:nvSpPr>
          <p:cNvPr id="18" name="Text 15"/>
          <p:cNvSpPr/>
          <p:nvPr/>
        </p:nvSpPr>
        <p:spPr>
          <a:xfrm>
            <a:off x="5029200" y="2999232"/>
            <a:ext cx="3291840" cy="228600"/>
          </a:xfrm>
          <a:prstGeom prst="rect">
            <a:avLst/>
          </a:prstGeom>
          <a:noFill/>
          <a:ln/>
        </p:spPr>
        <p:txBody>
          <a:bodyPr wrap="square" lIns="0" tIns="0" rIns="0" bIns="0" rtlCol="0" anchor="ctr"/>
          <a:lstStyle/>
          <a:p>
            <a:pPr marL="0" indent="0">
              <a:buNone/>
            </a:pPr>
            <a:r>
              <a:rPr lang="en-US" sz="1200" b="1" dirty="0">
                <a:solidFill>
                  <a:srgbClr val="8B2500"/>
                </a:solidFill>
                <a:latin typeface="Georgia" pitchFamily="34" charset="0"/>
                <a:ea typeface="Georgia" pitchFamily="34" charset="-122"/>
                <a:cs typeface="Georgia" pitchFamily="34" charset="-120"/>
              </a:rPr>
              <a:t>The 1890 Census</a:t>
            </a:r>
            <a:endParaRPr lang="en-US" sz="1200" dirty="0"/>
          </a:p>
        </p:txBody>
      </p:sp>
      <p:sp>
        <p:nvSpPr>
          <p:cNvPr id="19" name="Text 16"/>
          <p:cNvSpPr/>
          <p:nvPr/>
        </p:nvSpPr>
        <p:spPr>
          <a:xfrm>
            <a:off x="5029200" y="3246120"/>
            <a:ext cx="3291840" cy="457200"/>
          </a:xfrm>
          <a:prstGeom prst="rect">
            <a:avLst/>
          </a:prstGeom>
          <a:noFill/>
          <a:ln/>
        </p:spPr>
        <p:txBody>
          <a:bodyPr wrap="square" lIns="0" tIns="0" rIns="0" bIns="0" rtlCol="0" anchor="ctr"/>
          <a:lstStyle/>
          <a:p>
            <a:pPr marL="0" indent="0">
              <a:buNone/>
            </a:pPr>
            <a:r>
              <a:rPr lang="en-US" sz="1050" dirty="0">
                <a:solidFill>
                  <a:srgbClr val="1A1210"/>
                </a:solidFill>
                <a:latin typeface="Calibri" pitchFamily="34" charset="0"/>
                <a:ea typeface="Calibri" pitchFamily="34" charset="-122"/>
                <a:cs typeface="Calibri" pitchFamily="34" charset="-120"/>
              </a:rPr>
              <a:t>The Superintendent of the Census declared the frontier line could no longer be traced — Turner saw this as the end of an era.</a:t>
            </a:r>
            <a:endParaRPr lang="en-US" sz="1050" dirty="0"/>
          </a:p>
        </p:txBody>
      </p:sp>
      <p:sp>
        <p:nvSpPr>
          <p:cNvPr id="20" name="Shape 17"/>
          <p:cNvSpPr/>
          <p:nvPr/>
        </p:nvSpPr>
        <p:spPr>
          <a:xfrm>
            <a:off x="4754880" y="3886200"/>
            <a:ext cx="3749040" cy="82296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21" name="Shape 18"/>
          <p:cNvSpPr/>
          <p:nvPr/>
        </p:nvSpPr>
        <p:spPr>
          <a:xfrm>
            <a:off x="4754880" y="3886200"/>
            <a:ext cx="64008" cy="822960"/>
          </a:xfrm>
          <a:prstGeom prst="rect">
            <a:avLst/>
          </a:prstGeom>
          <a:solidFill>
            <a:srgbClr val="C4854C"/>
          </a:solidFill>
          <a:ln/>
        </p:spPr>
        <p:txBody>
          <a:bodyPr/>
          <a:lstStyle/>
          <a:p>
            <a:endParaRPr lang="en-US"/>
          </a:p>
        </p:txBody>
      </p:sp>
      <p:sp>
        <p:nvSpPr>
          <p:cNvPr id="22" name="Text 19"/>
          <p:cNvSpPr/>
          <p:nvPr/>
        </p:nvSpPr>
        <p:spPr>
          <a:xfrm>
            <a:off x="5029200" y="3959352"/>
            <a:ext cx="3291840" cy="228600"/>
          </a:xfrm>
          <a:prstGeom prst="rect">
            <a:avLst/>
          </a:prstGeom>
          <a:noFill/>
          <a:ln/>
        </p:spPr>
        <p:txBody>
          <a:bodyPr wrap="square" lIns="0" tIns="0" rIns="0" bIns="0" rtlCol="0" anchor="ctr"/>
          <a:lstStyle/>
          <a:p>
            <a:pPr marL="0" indent="0">
              <a:buNone/>
            </a:pPr>
            <a:r>
              <a:rPr lang="en-US" sz="1200" b="1" dirty="0">
                <a:solidFill>
                  <a:srgbClr val="8B2500"/>
                </a:solidFill>
                <a:latin typeface="Georgia" pitchFamily="34" charset="0"/>
                <a:ea typeface="Georgia" pitchFamily="34" charset="-122"/>
                <a:cs typeface="Georgia" pitchFamily="34" charset="-120"/>
              </a:rPr>
              <a:t>Why It Matters</a:t>
            </a:r>
            <a:endParaRPr lang="en-US" sz="1200" dirty="0"/>
          </a:p>
        </p:txBody>
      </p:sp>
      <p:sp>
        <p:nvSpPr>
          <p:cNvPr id="23" name="Text 20"/>
          <p:cNvSpPr/>
          <p:nvPr/>
        </p:nvSpPr>
        <p:spPr>
          <a:xfrm>
            <a:off x="5029200" y="4206240"/>
            <a:ext cx="3291840" cy="457200"/>
          </a:xfrm>
          <a:prstGeom prst="rect">
            <a:avLst/>
          </a:prstGeom>
          <a:noFill/>
          <a:ln/>
        </p:spPr>
        <p:txBody>
          <a:bodyPr wrap="square" lIns="0" tIns="0" rIns="0" bIns="0" rtlCol="0" anchor="ctr"/>
          <a:lstStyle/>
          <a:p>
            <a:pPr marL="0" indent="0">
              <a:buNone/>
            </a:pPr>
            <a:r>
              <a:rPr lang="en-US" sz="1050" dirty="0">
                <a:solidFill>
                  <a:srgbClr val="1A1210"/>
                </a:solidFill>
                <a:latin typeface="Calibri" pitchFamily="34" charset="0"/>
                <a:ea typeface="Calibri" pitchFamily="34" charset="-122"/>
                <a:cs typeface="Calibri" pitchFamily="34" charset="-120"/>
              </a:rPr>
              <a:t>Turner's essay became the dominant framework for understanding American identity for over half a century.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21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2500"/>
          </a:solidFill>
          <a:ln/>
        </p:spPr>
        <p:txBody>
          <a:bodyPr/>
          <a:lstStyle/>
          <a:p>
            <a:endParaRPr lang="en-US"/>
          </a:p>
        </p:txBody>
      </p:sp>
      <p:sp>
        <p:nvSpPr>
          <p:cNvPr id="3" name="Text 1"/>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F2E8D5"/>
                </a:solidFill>
                <a:latin typeface="Georgia" pitchFamily="34" charset="0"/>
                <a:ea typeface="Georgia" pitchFamily="34" charset="-122"/>
                <a:cs typeface="Georgia" pitchFamily="34" charset="-120"/>
              </a:rPr>
              <a:t>The Closing of the Frontier</a:t>
            </a:r>
            <a:endParaRPr lang="en-US" sz="3200" dirty="0"/>
          </a:p>
        </p:txBody>
      </p:sp>
      <p:sp>
        <p:nvSpPr>
          <p:cNvPr id="4" name="Text 2"/>
          <p:cNvSpPr/>
          <p:nvPr/>
        </p:nvSpPr>
        <p:spPr>
          <a:xfrm>
            <a:off x="640080" y="914400"/>
            <a:ext cx="7772400" cy="320040"/>
          </a:xfrm>
          <a:prstGeom prst="rect">
            <a:avLst/>
          </a:prstGeom>
          <a:noFill/>
          <a:ln/>
        </p:spPr>
        <p:txBody>
          <a:bodyPr wrap="square" lIns="0" tIns="0" rIns="0" bIns="0" rtlCol="0" anchor="ctr"/>
          <a:lstStyle/>
          <a:p>
            <a:pPr marL="0" indent="0">
              <a:buNone/>
            </a:pPr>
            <a:r>
              <a:rPr lang="en-US" sz="1300" i="1" dirty="0">
                <a:solidFill>
                  <a:srgbClr val="C4854C"/>
                </a:solidFill>
                <a:latin typeface="Calibri" pitchFamily="34" charset="0"/>
                <a:ea typeface="Calibri" pitchFamily="34" charset="-122"/>
                <a:cs typeface="Calibri" pitchFamily="34" charset="-120"/>
              </a:rPr>
              <a:t>RDR2 is set in 1899 — nine years after Turner declared the frontier closed</a:t>
            </a:r>
            <a:endParaRPr lang="en-US" sz="1300" dirty="0"/>
          </a:p>
        </p:txBody>
      </p:sp>
      <p:sp>
        <p:nvSpPr>
          <p:cNvPr id="5" name="Shape 3"/>
          <p:cNvSpPr/>
          <p:nvPr/>
        </p:nvSpPr>
        <p:spPr>
          <a:xfrm>
            <a:off x="640080" y="1463040"/>
            <a:ext cx="7863840" cy="914400"/>
          </a:xfrm>
          <a:prstGeom prst="rect">
            <a:avLst/>
          </a:prstGeom>
          <a:solidFill>
            <a:srgbClr val="2C1E15"/>
          </a:solidFill>
          <a:ln/>
          <a:effectLst>
            <a:outerShdw blurRad="76200" dist="25400" dir="8100000" algn="bl" rotWithShape="0">
              <a:srgbClr val="000000">
                <a:alpha val="15000"/>
              </a:srgbClr>
            </a:outerShdw>
          </a:effectLst>
        </p:spPr>
        <p:txBody>
          <a:bodyPr/>
          <a:lstStyle/>
          <a:p>
            <a:endParaRPr lang="en-US"/>
          </a:p>
        </p:txBody>
      </p:sp>
      <p:sp>
        <p:nvSpPr>
          <p:cNvPr id="6" name="Shape 4"/>
          <p:cNvSpPr/>
          <p:nvPr/>
        </p:nvSpPr>
        <p:spPr>
          <a:xfrm>
            <a:off x="640080" y="1463040"/>
            <a:ext cx="64008" cy="914400"/>
          </a:xfrm>
          <a:prstGeom prst="rect">
            <a:avLst/>
          </a:prstGeom>
          <a:solidFill>
            <a:srgbClr val="8B250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572768"/>
            <a:ext cx="274320" cy="274320"/>
          </a:xfrm>
          <a:prstGeom prst="rect">
            <a:avLst/>
          </a:prstGeom>
        </p:spPr>
      </p:pic>
      <p:sp>
        <p:nvSpPr>
          <p:cNvPr id="8" name="Text 5"/>
          <p:cNvSpPr/>
          <p:nvPr/>
        </p:nvSpPr>
        <p:spPr>
          <a:xfrm>
            <a:off x="1371600" y="1508760"/>
            <a:ext cx="6858000" cy="411480"/>
          </a:xfrm>
          <a:prstGeom prst="rect">
            <a:avLst/>
          </a:prstGeom>
          <a:noFill/>
          <a:ln/>
        </p:spPr>
        <p:txBody>
          <a:bodyPr wrap="square" lIns="0" tIns="0" rIns="0" bIns="0" rtlCol="0" anchor="ctr"/>
          <a:lstStyle/>
          <a:p>
            <a:pPr marL="0" indent="0">
              <a:buNone/>
            </a:pPr>
            <a:r>
              <a:rPr lang="en-US" sz="1800" i="1" dirty="0">
                <a:solidFill>
                  <a:srgbClr val="F2E8D5"/>
                </a:solidFill>
                <a:latin typeface="Georgia" pitchFamily="34" charset="0"/>
                <a:ea typeface="Georgia" pitchFamily="34" charset="-122"/>
                <a:cs typeface="Georgia" pitchFamily="34" charset="-120"/>
              </a:rPr>
              <a:t>By 1899, the age of outlaws and gunslingers was at an end.</a:t>
            </a:r>
            <a:endParaRPr lang="en-US" sz="1800" dirty="0"/>
          </a:p>
        </p:txBody>
      </p:sp>
      <p:sp>
        <p:nvSpPr>
          <p:cNvPr id="9" name="Text 6"/>
          <p:cNvSpPr/>
          <p:nvPr/>
        </p:nvSpPr>
        <p:spPr>
          <a:xfrm>
            <a:off x="1371600" y="1965960"/>
            <a:ext cx="6858000" cy="274320"/>
          </a:xfrm>
          <a:prstGeom prst="rect">
            <a:avLst/>
          </a:prstGeom>
          <a:noFill/>
          <a:ln/>
        </p:spPr>
        <p:txBody>
          <a:bodyPr wrap="square" lIns="0" tIns="0" rIns="0" bIns="0" rtlCol="0" anchor="ctr"/>
          <a:lstStyle/>
          <a:p>
            <a:pPr marL="0" indent="0">
              <a:buNone/>
            </a:pPr>
            <a:r>
              <a:rPr lang="en-US" sz="1100" dirty="0">
                <a:solidFill>
                  <a:srgbClr val="8A7B6B"/>
                </a:solidFill>
                <a:latin typeface="Calibri" pitchFamily="34" charset="0"/>
                <a:ea typeface="Calibri" pitchFamily="34" charset="-122"/>
                <a:cs typeface="Calibri" pitchFamily="34" charset="-120"/>
              </a:rPr>
              <a:t>— Opening narration, Red Dead Redemption 2</a:t>
            </a:r>
            <a:endParaRPr lang="en-US" sz="1100" dirty="0"/>
          </a:p>
        </p:txBody>
      </p:sp>
      <p:sp>
        <p:nvSpPr>
          <p:cNvPr id="10" name="Shape 7"/>
          <p:cNvSpPr/>
          <p:nvPr/>
        </p:nvSpPr>
        <p:spPr>
          <a:xfrm>
            <a:off x="640080" y="2651760"/>
            <a:ext cx="3749040" cy="2011680"/>
          </a:xfrm>
          <a:prstGeom prst="rect">
            <a:avLst/>
          </a:prstGeom>
          <a:solidFill>
            <a:srgbClr val="2C1E15"/>
          </a:solidFill>
          <a:ln/>
          <a:effectLst>
            <a:outerShdw blurRad="76200" dist="25400" dir="8100000" algn="bl" rotWithShape="0">
              <a:srgbClr val="000000">
                <a:alpha val="15000"/>
              </a:srgbClr>
            </a:outerShdw>
          </a:effectLst>
        </p:spPr>
        <p:txBody>
          <a:bodyPr/>
          <a:lstStyle/>
          <a:p>
            <a:endParaRPr lang="en-US"/>
          </a:p>
        </p:txBody>
      </p:sp>
      <p:sp>
        <p:nvSpPr>
          <p:cNvPr id="11" name="Shape 8"/>
          <p:cNvSpPr/>
          <p:nvPr/>
        </p:nvSpPr>
        <p:spPr>
          <a:xfrm>
            <a:off x="640080" y="2651760"/>
            <a:ext cx="64008" cy="2011680"/>
          </a:xfrm>
          <a:prstGeom prst="rect">
            <a:avLst/>
          </a:prstGeom>
          <a:solidFill>
            <a:srgbClr val="C4854C"/>
          </a:solidFill>
          <a:ln/>
        </p:spPr>
        <p:txBody>
          <a:bodyPr/>
          <a:lstStyle/>
          <a:p>
            <a:endParaRPr lang="en-US"/>
          </a:p>
        </p:txBody>
      </p:sp>
      <p:sp>
        <p:nvSpPr>
          <p:cNvPr id="12" name="Text 9"/>
          <p:cNvSpPr/>
          <p:nvPr/>
        </p:nvSpPr>
        <p:spPr>
          <a:xfrm>
            <a:off x="914400" y="2788920"/>
            <a:ext cx="3200400" cy="320040"/>
          </a:xfrm>
          <a:prstGeom prst="rect">
            <a:avLst/>
          </a:prstGeom>
          <a:noFill/>
          <a:ln/>
        </p:spPr>
        <p:txBody>
          <a:bodyPr wrap="square" lIns="0" tIns="0" rIns="0" bIns="0" rtlCol="0" anchor="ctr"/>
          <a:lstStyle/>
          <a:p>
            <a:pPr marL="0" indent="0">
              <a:buNone/>
            </a:pPr>
            <a:r>
              <a:rPr lang="en-US" sz="1600" b="1" dirty="0">
                <a:solidFill>
                  <a:srgbClr val="C4854C"/>
                </a:solidFill>
                <a:latin typeface="Georgia" pitchFamily="34" charset="0"/>
                <a:ea typeface="Georgia" pitchFamily="34" charset="-122"/>
                <a:cs typeface="Georgia" pitchFamily="34" charset="-120"/>
              </a:rPr>
              <a:t>Running Out of Room</a:t>
            </a:r>
            <a:endParaRPr lang="en-US" sz="1600" dirty="0"/>
          </a:p>
        </p:txBody>
      </p:sp>
      <p:sp>
        <p:nvSpPr>
          <p:cNvPr id="13" name="Text 10"/>
          <p:cNvSpPr/>
          <p:nvPr/>
        </p:nvSpPr>
        <p:spPr>
          <a:xfrm>
            <a:off x="914400" y="3154680"/>
            <a:ext cx="3200400" cy="1371600"/>
          </a:xfrm>
          <a:prstGeom prst="rect">
            <a:avLst/>
          </a:prstGeom>
          <a:noFill/>
          <a:ln/>
        </p:spPr>
        <p:txBody>
          <a:bodyPr wrap="square" lIns="0" tIns="0" rIns="0" bIns="0" rtlCol="0" anchor="ctr"/>
          <a:lstStyle/>
          <a:p>
            <a:pPr marL="0" indent="0">
              <a:lnSpc>
                <a:spcPct val="125000"/>
              </a:lnSpc>
              <a:buNone/>
            </a:pPr>
            <a:r>
              <a:rPr lang="en-US" sz="1200" dirty="0">
                <a:solidFill>
                  <a:srgbClr val="F2E8D5"/>
                </a:solidFill>
                <a:latin typeface="Calibri" pitchFamily="34" charset="0"/>
                <a:ea typeface="Calibri" pitchFamily="34" charset="-122"/>
                <a:cs typeface="Calibri" pitchFamily="34" charset="-120"/>
              </a:rPr>
              <a:t>Turner argued free land was a "safety valve" for social discontent. In RDR2, that valve is shut. The Van der Linde gang flees constantly but there is nowhere left to go — civilization has expanded to fill every corner of the map.</a:t>
            </a:r>
            <a:endParaRPr lang="en-US" sz="1200" dirty="0"/>
          </a:p>
        </p:txBody>
      </p:sp>
      <p:sp>
        <p:nvSpPr>
          <p:cNvPr id="14" name="Shape 11"/>
          <p:cNvSpPr/>
          <p:nvPr/>
        </p:nvSpPr>
        <p:spPr>
          <a:xfrm>
            <a:off x="4754880" y="2651760"/>
            <a:ext cx="3749040" cy="2011680"/>
          </a:xfrm>
          <a:prstGeom prst="rect">
            <a:avLst/>
          </a:prstGeom>
          <a:solidFill>
            <a:srgbClr val="2C1E15"/>
          </a:solidFill>
          <a:ln/>
          <a:effectLst>
            <a:outerShdw blurRad="76200" dist="25400" dir="8100000" algn="bl" rotWithShape="0">
              <a:srgbClr val="000000">
                <a:alpha val="15000"/>
              </a:srgbClr>
            </a:outerShdw>
          </a:effectLst>
        </p:spPr>
        <p:txBody>
          <a:bodyPr/>
          <a:lstStyle/>
          <a:p>
            <a:endParaRPr lang="en-US"/>
          </a:p>
        </p:txBody>
      </p:sp>
      <p:sp>
        <p:nvSpPr>
          <p:cNvPr id="15" name="Shape 12"/>
          <p:cNvSpPr/>
          <p:nvPr/>
        </p:nvSpPr>
        <p:spPr>
          <a:xfrm>
            <a:off x="4754880" y="2651760"/>
            <a:ext cx="64008" cy="2011680"/>
          </a:xfrm>
          <a:prstGeom prst="rect">
            <a:avLst/>
          </a:prstGeom>
          <a:solidFill>
            <a:srgbClr val="C4854C"/>
          </a:solidFill>
          <a:ln/>
        </p:spPr>
        <p:txBody>
          <a:bodyPr/>
          <a:lstStyle/>
          <a:p>
            <a:endParaRPr lang="en-US"/>
          </a:p>
        </p:txBody>
      </p:sp>
      <p:sp>
        <p:nvSpPr>
          <p:cNvPr id="16" name="Text 13"/>
          <p:cNvSpPr/>
          <p:nvPr/>
        </p:nvSpPr>
        <p:spPr>
          <a:xfrm>
            <a:off x="5029200" y="2788920"/>
            <a:ext cx="3200400" cy="320040"/>
          </a:xfrm>
          <a:prstGeom prst="rect">
            <a:avLst/>
          </a:prstGeom>
          <a:noFill/>
          <a:ln/>
        </p:spPr>
        <p:txBody>
          <a:bodyPr wrap="square" lIns="0" tIns="0" rIns="0" bIns="0" rtlCol="0" anchor="ctr"/>
          <a:lstStyle/>
          <a:p>
            <a:pPr marL="0" indent="0">
              <a:buNone/>
            </a:pPr>
            <a:r>
              <a:rPr lang="en-US" sz="1600" b="1" dirty="0">
                <a:solidFill>
                  <a:srgbClr val="C4854C"/>
                </a:solidFill>
                <a:latin typeface="Georgia" pitchFamily="34" charset="0"/>
                <a:ea typeface="Georgia" pitchFamily="34" charset="-122"/>
                <a:cs typeface="Georgia" pitchFamily="34" charset="-120"/>
              </a:rPr>
              <a:t>The End of an Era</a:t>
            </a:r>
            <a:endParaRPr lang="en-US" sz="1600" dirty="0"/>
          </a:p>
        </p:txBody>
      </p:sp>
      <p:sp>
        <p:nvSpPr>
          <p:cNvPr id="17" name="Text 14"/>
          <p:cNvSpPr/>
          <p:nvPr/>
        </p:nvSpPr>
        <p:spPr>
          <a:xfrm>
            <a:off x="5029200" y="3154680"/>
            <a:ext cx="3200400" cy="1371600"/>
          </a:xfrm>
          <a:prstGeom prst="rect">
            <a:avLst/>
          </a:prstGeom>
          <a:noFill/>
          <a:ln/>
        </p:spPr>
        <p:txBody>
          <a:bodyPr wrap="square" lIns="0" tIns="0" rIns="0" bIns="0" rtlCol="0" anchor="ctr"/>
          <a:lstStyle/>
          <a:p>
            <a:pPr marL="0" indent="0">
              <a:lnSpc>
                <a:spcPct val="125000"/>
              </a:lnSpc>
              <a:buNone/>
            </a:pPr>
            <a:r>
              <a:rPr lang="en-US" sz="1200" dirty="0">
                <a:solidFill>
                  <a:srgbClr val="F2E8D5"/>
                </a:solidFill>
                <a:latin typeface="Calibri" pitchFamily="34" charset="0"/>
                <a:ea typeface="Calibri" pitchFamily="34" charset="-122"/>
                <a:cs typeface="Calibri" pitchFamily="34" charset="-120"/>
              </a:rPr>
              <a:t>The game's opening line directly echoes Turner's assertion that a distinct period of American history had closed. RDR2 places players inside that moment of transition — experiencing the loss of the frontier in real time.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0E4"/>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8B2500"/>
          </a:solidFill>
          <a:ln/>
        </p:spPr>
        <p:txBody>
          <a:bodyPr/>
          <a:lstStyle/>
          <a:p>
            <a:endParaRPr lang="en-US"/>
          </a:p>
        </p:txBody>
      </p:sp>
      <p:sp>
        <p:nvSpPr>
          <p:cNvPr id="3" name="Text 1"/>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1210"/>
                </a:solidFill>
                <a:latin typeface="Georgia" pitchFamily="34" charset="0"/>
                <a:ea typeface="Georgia" pitchFamily="34" charset="-122"/>
                <a:cs typeface="Georgia" pitchFamily="34" charset="-120"/>
              </a:rPr>
              <a:t>Civilization vs. Savagery</a:t>
            </a:r>
            <a:endParaRPr lang="en-US" sz="3200" dirty="0"/>
          </a:p>
        </p:txBody>
      </p:sp>
      <p:sp>
        <p:nvSpPr>
          <p:cNvPr id="4" name="Shape 2"/>
          <p:cNvSpPr/>
          <p:nvPr/>
        </p:nvSpPr>
        <p:spPr>
          <a:xfrm>
            <a:off x="640080" y="1143000"/>
            <a:ext cx="7863840" cy="777240"/>
          </a:xfrm>
          <a:prstGeom prst="rect">
            <a:avLst/>
          </a:prstGeom>
          <a:solidFill>
            <a:srgbClr val="F2E8D5"/>
          </a:solidFill>
          <a:ln/>
          <a:effectLst>
            <a:outerShdw blurRad="76200" dist="25400" dir="8100000" algn="bl" rotWithShape="0">
              <a:srgbClr val="000000">
                <a:alpha val="1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868680" y="1234440"/>
            <a:ext cx="274320" cy="274320"/>
          </a:xfrm>
          <a:prstGeom prst="rect">
            <a:avLst/>
          </a:prstGeom>
        </p:spPr>
      </p:pic>
      <p:sp>
        <p:nvSpPr>
          <p:cNvPr id="6" name="Text 3"/>
          <p:cNvSpPr/>
          <p:nvPr/>
        </p:nvSpPr>
        <p:spPr>
          <a:xfrm>
            <a:off x="1280160" y="1188720"/>
            <a:ext cx="7040880" cy="685800"/>
          </a:xfrm>
          <a:prstGeom prst="rect">
            <a:avLst/>
          </a:prstGeom>
          <a:noFill/>
          <a:ln/>
        </p:spPr>
        <p:txBody>
          <a:bodyPr wrap="square" lIns="0" tIns="0" rIns="0" bIns="0" rtlCol="0" anchor="ctr"/>
          <a:lstStyle/>
          <a:p>
            <a:pPr marL="0" indent="0">
              <a:buNone/>
            </a:pPr>
            <a:r>
              <a:rPr lang="en-US" sz="1500" i="1" dirty="0">
                <a:solidFill>
                  <a:srgbClr val="8B2500"/>
                </a:solidFill>
                <a:latin typeface="Georgia" pitchFamily="34" charset="0"/>
                <a:ea typeface="Georgia" pitchFamily="34" charset="-122"/>
                <a:cs typeface="Georgia" pitchFamily="34" charset="-120"/>
              </a:rPr>
              <a:t>The frontier is the meeting point between savagery and civilization.</a:t>
            </a:r>
            <a:endParaRPr lang="en-US" sz="1500" dirty="0"/>
          </a:p>
        </p:txBody>
      </p:sp>
      <p:sp>
        <p:nvSpPr>
          <p:cNvPr id="7" name="Shape 4"/>
          <p:cNvSpPr/>
          <p:nvPr/>
        </p:nvSpPr>
        <p:spPr>
          <a:xfrm>
            <a:off x="640080" y="2194560"/>
            <a:ext cx="3749040" cy="256032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8" name="Shape 5"/>
          <p:cNvSpPr/>
          <p:nvPr/>
        </p:nvSpPr>
        <p:spPr>
          <a:xfrm>
            <a:off x="640080" y="2194560"/>
            <a:ext cx="3749040" cy="457200"/>
          </a:xfrm>
          <a:prstGeom prst="rect">
            <a:avLst/>
          </a:prstGeom>
          <a:solidFill>
            <a:srgbClr val="8B2500"/>
          </a:solidFill>
          <a:ln/>
        </p:spPr>
        <p:txBody>
          <a:bodyPr/>
          <a:lstStyle/>
          <a:p>
            <a:endParaRPr lang="en-US"/>
          </a:p>
        </p:txBody>
      </p:sp>
      <p:sp>
        <p:nvSpPr>
          <p:cNvPr id="9" name="Text 6"/>
          <p:cNvSpPr/>
          <p:nvPr/>
        </p:nvSpPr>
        <p:spPr>
          <a:xfrm>
            <a:off x="640080" y="2194560"/>
            <a:ext cx="374904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"SAVAGERY" — The Gang</a:t>
            </a:r>
            <a:endParaRPr lang="en-US" sz="1400" dirty="0"/>
          </a:p>
        </p:txBody>
      </p:sp>
      <p:sp>
        <p:nvSpPr>
          <p:cNvPr id="10" name="Text 7"/>
          <p:cNvSpPr/>
          <p:nvPr/>
        </p:nvSpPr>
        <p:spPr>
          <a:xfrm>
            <a:off x="914400" y="2788920"/>
            <a:ext cx="3200400" cy="1828800"/>
          </a:xfrm>
          <a:prstGeom prst="rect">
            <a:avLst/>
          </a:prstGeom>
          <a:noFill/>
          <a:ln/>
        </p:spPr>
        <p:txBody>
          <a:bodyPr wrap="square" rtlCol="0" anchor="ctr"/>
          <a:lstStyle/>
          <a:p>
            <a:pPr marL="342900" indent="-342900">
              <a:lnSpc>
                <a:spcPct val="120000"/>
              </a:lnSpc>
              <a:spcAft>
                <a:spcPts val="800"/>
              </a:spcAft>
              <a:buSzPct val="100000"/>
              <a:buChar char="•"/>
            </a:pPr>
            <a:r>
              <a:rPr lang="en-US" sz="1200" dirty="0">
                <a:solidFill>
                  <a:srgbClr val="1A1210"/>
                </a:solidFill>
                <a:latin typeface="Calibri" pitchFamily="34" charset="0"/>
                <a:ea typeface="Calibri" pitchFamily="34" charset="-122"/>
                <a:cs typeface="Calibri" pitchFamily="34" charset="-120"/>
              </a:rPr>
              <a:t>Natural freedom &amp; nomadic life</a:t>
            </a:r>
            <a:endParaRPr lang="en-US" sz="1200" dirty="0"/>
          </a:p>
          <a:p>
            <a:pPr marL="342900" indent="-342900">
              <a:lnSpc>
                <a:spcPct val="120000"/>
              </a:lnSpc>
              <a:spcAft>
                <a:spcPts val="800"/>
              </a:spcAft>
              <a:buSzPct val="100000"/>
              <a:buChar char="•"/>
            </a:pPr>
            <a:r>
              <a:rPr lang="en-US" sz="1200" dirty="0">
                <a:solidFill>
                  <a:srgbClr val="1A1210"/>
                </a:solidFill>
                <a:latin typeface="Calibri" pitchFamily="34" charset="0"/>
                <a:ea typeface="Calibri" pitchFamily="34" charset="-122"/>
                <a:cs typeface="Calibri" pitchFamily="34" charset="-120"/>
              </a:rPr>
              <a:t>Living off the land, outside the law</a:t>
            </a:r>
            <a:endParaRPr lang="en-US" sz="1200" dirty="0"/>
          </a:p>
          <a:p>
            <a:pPr marL="342900" indent="-342900">
              <a:lnSpc>
                <a:spcPct val="120000"/>
              </a:lnSpc>
              <a:spcAft>
                <a:spcPts val="800"/>
              </a:spcAft>
              <a:buSzPct val="100000"/>
              <a:buChar char="•"/>
            </a:pPr>
            <a:r>
              <a:rPr lang="en-US" sz="1200" dirty="0">
                <a:solidFill>
                  <a:srgbClr val="1A1210"/>
                </a:solidFill>
                <a:latin typeface="Calibri" pitchFamily="34" charset="0"/>
                <a:ea typeface="Calibri" pitchFamily="34" charset="-122"/>
                <a:cs typeface="Calibri" pitchFamily="34" charset="-120"/>
              </a:rPr>
              <a:t>Arthur Morgan as Turner's frontiersman — the wilderness "masters the colonist"</a:t>
            </a:r>
            <a:endParaRPr lang="en-US" sz="1200" dirty="0"/>
          </a:p>
          <a:p>
            <a:pPr marL="342900" indent="-342900">
              <a:lnSpc>
                <a:spcPct val="120000"/>
              </a:lnSpc>
              <a:spcAft>
                <a:spcPts val="800"/>
              </a:spcAft>
              <a:buSzPct val="100000"/>
              <a:buChar char="•"/>
            </a:pPr>
            <a:r>
              <a:rPr lang="en-US" sz="1200" dirty="0">
                <a:solidFill>
                  <a:srgbClr val="1A1210"/>
                </a:solidFill>
                <a:latin typeface="Calibri" pitchFamily="34" charset="0"/>
                <a:ea typeface="Calibri" pitchFamily="34" charset="-122"/>
                <a:cs typeface="Calibri" pitchFamily="34" charset="-120"/>
              </a:rPr>
              <a:t>Self-reliance, adaptability, rejection of "soft" city life</a:t>
            </a:r>
            <a:endParaRPr lang="en-US" sz="1200" dirty="0"/>
          </a:p>
        </p:txBody>
      </p:sp>
      <p:sp>
        <p:nvSpPr>
          <p:cNvPr id="11" name="Shape 8"/>
          <p:cNvSpPr/>
          <p:nvPr/>
        </p:nvSpPr>
        <p:spPr>
          <a:xfrm>
            <a:off x="4754880" y="2194560"/>
            <a:ext cx="3749040" cy="256032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12" name="Shape 9"/>
          <p:cNvSpPr/>
          <p:nvPr/>
        </p:nvSpPr>
        <p:spPr>
          <a:xfrm>
            <a:off x="4754880" y="2194560"/>
            <a:ext cx="3749040" cy="457200"/>
          </a:xfrm>
          <a:prstGeom prst="rect">
            <a:avLst/>
          </a:prstGeom>
          <a:solidFill>
            <a:srgbClr val="C4854C"/>
          </a:solidFill>
          <a:ln/>
        </p:spPr>
        <p:txBody>
          <a:bodyPr/>
          <a:lstStyle/>
          <a:p>
            <a:endParaRPr lang="en-US"/>
          </a:p>
        </p:txBody>
      </p:sp>
      <p:sp>
        <p:nvSpPr>
          <p:cNvPr id="13" name="Text 10"/>
          <p:cNvSpPr/>
          <p:nvPr/>
        </p:nvSpPr>
        <p:spPr>
          <a:xfrm>
            <a:off x="4754880" y="2194560"/>
            <a:ext cx="374904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"CIVILIZATION" — The System</a:t>
            </a:r>
            <a:endParaRPr lang="en-US" sz="1400" dirty="0"/>
          </a:p>
        </p:txBody>
      </p:sp>
      <p:sp>
        <p:nvSpPr>
          <p:cNvPr id="14" name="Text 11"/>
          <p:cNvSpPr/>
          <p:nvPr/>
        </p:nvSpPr>
        <p:spPr>
          <a:xfrm>
            <a:off x="5029200" y="2788920"/>
            <a:ext cx="3200400" cy="1828800"/>
          </a:xfrm>
          <a:prstGeom prst="rect">
            <a:avLst/>
          </a:prstGeom>
          <a:noFill/>
          <a:ln/>
        </p:spPr>
        <p:txBody>
          <a:bodyPr wrap="square" rtlCol="0" anchor="ctr"/>
          <a:lstStyle/>
          <a:p>
            <a:pPr marL="342900" indent="-342900">
              <a:lnSpc>
                <a:spcPct val="120000"/>
              </a:lnSpc>
              <a:spcAft>
                <a:spcPts val="800"/>
              </a:spcAft>
              <a:buSzPct val="100000"/>
              <a:buChar char="•"/>
            </a:pPr>
            <a:r>
              <a:rPr lang="en-US" sz="1200" dirty="0">
                <a:solidFill>
                  <a:srgbClr val="1A1210"/>
                </a:solidFill>
                <a:latin typeface="Calibri" pitchFamily="34" charset="0"/>
                <a:ea typeface="Calibri" pitchFamily="34" charset="-122"/>
                <a:cs typeface="Calibri" pitchFamily="34" charset="-120"/>
              </a:rPr>
              <a:t>Bureaucracy, law, industry, federal power</a:t>
            </a:r>
            <a:endParaRPr lang="en-US" sz="1200" dirty="0"/>
          </a:p>
          <a:p>
            <a:pPr marL="342900" indent="-342900">
              <a:lnSpc>
                <a:spcPct val="120000"/>
              </a:lnSpc>
              <a:spcAft>
                <a:spcPts val="800"/>
              </a:spcAft>
              <a:buSzPct val="100000"/>
              <a:buChar char="•"/>
            </a:pPr>
            <a:r>
              <a:rPr lang="en-US" sz="1200" dirty="0">
                <a:solidFill>
                  <a:srgbClr val="1A1210"/>
                </a:solidFill>
                <a:latin typeface="Calibri" pitchFamily="34" charset="0"/>
                <a:ea typeface="Calibri" pitchFamily="34" charset="-122"/>
                <a:cs typeface="Calibri" pitchFamily="34" charset="-120"/>
              </a:rPr>
              <a:t>Urbanization and the settled East</a:t>
            </a:r>
            <a:endParaRPr lang="en-US" sz="1200" dirty="0"/>
          </a:p>
          <a:p>
            <a:pPr marL="342900" indent="-342900">
              <a:lnSpc>
                <a:spcPct val="120000"/>
              </a:lnSpc>
              <a:spcAft>
                <a:spcPts val="800"/>
              </a:spcAft>
              <a:buSzPct val="100000"/>
              <a:buChar char="•"/>
            </a:pPr>
            <a:r>
              <a:rPr lang="en-US" sz="1200" dirty="0">
                <a:solidFill>
                  <a:srgbClr val="1A1210"/>
                </a:solidFill>
                <a:latin typeface="Calibri" pitchFamily="34" charset="0"/>
                <a:ea typeface="Calibri" pitchFamily="34" charset="-122"/>
                <a:cs typeface="Calibri" pitchFamily="34" charset="-120"/>
              </a:rPr>
              <a:t>Pinkertons, agents, and government force</a:t>
            </a:r>
            <a:endParaRPr lang="en-US" sz="1200" dirty="0"/>
          </a:p>
          <a:p>
            <a:pPr marL="342900" indent="-342900">
              <a:lnSpc>
                <a:spcPct val="120000"/>
              </a:lnSpc>
              <a:spcAft>
                <a:spcPts val="800"/>
              </a:spcAft>
              <a:buSzPct val="100000"/>
              <a:buChar char="•"/>
            </a:pPr>
            <a:r>
              <a:rPr lang="en-US" sz="1200" dirty="0">
                <a:solidFill>
                  <a:srgbClr val="1A1210"/>
                </a:solidFill>
                <a:latin typeface="Calibri" pitchFamily="34" charset="0"/>
                <a:ea typeface="Calibri" pitchFamily="34" charset="-122"/>
                <a:cs typeface="Calibri" pitchFamily="34" charset="-120"/>
              </a:rPr>
              <a:t>Turner's "complexity of city life" displacing the primitive frontier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0E4"/>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8B2500"/>
          </a:solidFill>
          <a:ln/>
        </p:spPr>
        <p:txBody>
          <a:bodyPr/>
          <a:lstStyle/>
          <a:p>
            <a:endParaRPr lang="en-US"/>
          </a:p>
        </p:txBody>
      </p:sp>
      <p:sp>
        <p:nvSpPr>
          <p:cNvPr id="3" name="Text 1"/>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1210"/>
                </a:solidFill>
                <a:latin typeface="Georgia" pitchFamily="34" charset="0"/>
                <a:ea typeface="Georgia" pitchFamily="34" charset="-122"/>
                <a:cs typeface="Georgia" pitchFamily="34" charset="-120"/>
              </a:rPr>
              <a:t>Resistance to Modernity</a:t>
            </a:r>
            <a:endParaRPr lang="en-US" sz="3200" dirty="0"/>
          </a:p>
        </p:txBody>
      </p:sp>
      <p:sp>
        <p:nvSpPr>
          <p:cNvPr id="4" name="Text 2"/>
          <p:cNvSpPr/>
          <p:nvPr/>
        </p:nvSpPr>
        <p:spPr>
          <a:xfrm>
            <a:off x="640080" y="960120"/>
            <a:ext cx="7772400" cy="320040"/>
          </a:xfrm>
          <a:prstGeom prst="rect">
            <a:avLst/>
          </a:prstGeom>
          <a:noFill/>
          <a:ln/>
        </p:spPr>
        <p:txBody>
          <a:bodyPr wrap="square" lIns="0" tIns="0" rIns="0" bIns="0" rtlCol="0" anchor="ctr"/>
          <a:lstStyle/>
          <a:p>
            <a:pPr marL="0" indent="0">
              <a:buNone/>
            </a:pPr>
            <a:r>
              <a:rPr lang="en-US" sz="1300" i="1" dirty="0">
                <a:solidFill>
                  <a:srgbClr val="8A7B6B"/>
                </a:solidFill>
                <a:latin typeface="Calibri" pitchFamily="34" charset="0"/>
                <a:ea typeface="Calibri" pitchFamily="34" charset="-122"/>
                <a:cs typeface="Calibri" pitchFamily="34" charset="-120"/>
              </a:rPr>
              <a:t>Dutch van der Linde as the Turnerian anti-modernist</a:t>
            </a:r>
            <a:endParaRPr lang="en-US" sz="1300" dirty="0"/>
          </a:p>
        </p:txBody>
      </p:sp>
      <p:sp>
        <p:nvSpPr>
          <p:cNvPr id="5" name="Shape 3"/>
          <p:cNvSpPr/>
          <p:nvPr/>
        </p:nvSpPr>
        <p:spPr>
          <a:xfrm>
            <a:off x="640080" y="1508760"/>
            <a:ext cx="7863840" cy="100584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1783080"/>
            <a:ext cx="457200" cy="457200"/>
          </a:xfrm>
          <a:prstGeom prst="rect">
            <a:avLst/>
          </a:prstGeom>
        </p:spPr>
      </p:pic>
      <p:sp>
        <p:nvSpPr>
          <p:cNvPr id="7" name="Text 4"/>
          <p:cNvSpPr/>
          <p:nvPr/>
        </p:nvSpPr>
        <p:spPr>
          <a:xfrm>
            <a:off x="1554480" y="1600200"/>
            <a:ext cx="6675120" cy="274320"/>
          </a:xfrm>
          <a:prstGeom prst="rect">
            <a:avLst/>
          </a:prstGeom>
          <a:noFill/>
          <a:ln/>
        </p:spPr>
        <p:txBody>
          <a:bodyPr wrap="square" lIns="0" tIns="0" rIns="0" bIns="0" rtlCol="0" anchor="ctr"/>
          <a:lstStyle/>
          <a:p>
            <a:pPr marL="0" indent="0">
              <a:buNone/>
            </a:pPr>
            <a:r>
              <a:rPr lang="en-US" sz="1400" b="1" dirty="0">
                <a:solidFill>
                  <a:srgbClr val="8B2500"/>
                </a:solidFill>
                <a:latin typeface="Georgia" pitchFamily="34" charset="0"/>
                <a:ea typeface="Georgia" pitchFamily="34" charset="-122"/>
                <a:cs typeface="Georgia" pitchFamily="34" charset="-120"/>
              </a:rPr>
              <a:t>Dutch's Philosophy</a:t>
            </a:r>
            <a:endParaRPr lang="en-US" sz="1400" dirty="0"/>
          </a:p>
        </p:txBody>
      </p:sp>
      <p:sp>
        <p:nvSpPr>
          <p:cNvPr id="8" name="Text 5"/>
          <p:cNvSpPr/>
          <p:nvPr/>
        </p:nvSpPr>
        <p:spPr>
          <a:xfrm>
            <a:off x="1554480" y="1892808"/>
            <a:ext cx="6675120" cy="548640"/>
          </a:xfrm>
          <a:prstGeom prst="rect">
            <a:avLst/>
          </a:prstGeom>
          <a:noFill/>
          <a:ln/>
        </p:spPr>
        <p:txBody>
          <a:bodyPr wrap="square" lIns="0" tIns="0" rIns="0" bIns="0" rtlCol="0" anchor="ctr"/>
          <a:lstStyle/>
          <a:p>
            <a:pPr marL="0" indent="0">
              <a:lnSpc>
                <a:spcPct val="120000"/>
              </a:lnSpc>
              <a:buNone/>
            </a:pPr>
            <a:r>
              <a:rPr lang="en-US" sz="1150" dirty="0">
                <a:solidFill>
                  <a:srgbClr val="1A1210"/>
                </a:solidFill>
                <a:latin typeface="Calibri" pitchFamily="34" charset="0"/>
                <a:ea typeface="Calibri" pitchFamily="34" charset="-122"/>
                <a:cs typeface="Calibri" pitchFamily="34" charset="-120"/>
              </a:rPr>
              <a:t>Dutch fights against a world of bureaucracy, urbanization, and federal power — precisely the forces Turner associated with the settled East. His rhetoric is a direct echo of frontier anti-institutionalism.</a:t>
            </a:r>
            <a:endParaRPr lang="en-US" sz="1150" dirty="0"/>
          </a:p>
        </p:txBody>
      </p:sp>
      <p:sp>
        <p:nvSpPr>
          <p:cNvPr id="9" name="Shape 6"/>
          <p:cNvSpPr/>
          <p:nvPr/>
        </p:nvSpPr>
        <p:spPr>
          <a:xfrm>
            <a:off x="640080" y="2651760"/>
            <a:ext cx="7863840" cy="100584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868680" y="2926080"/>
            <a:ext cx="457200" cy="457200"/>
          </a:xfrm>
          <a:prstGeom prst="rect">
            <a:avLst/>
          </a:prstGeom>
        </p:spPr>
      </p:pic>
      <p:sp>
        <p:nvSpPr>
          <p:cNvPr id="11" name="Text 7"/>
          <p:cNvSpPr/>
          <p:nvPr/>
        </p:nvSpPr>
        <p:spPr>
          <a:xfrm>
            <a:off x="1554480" y="2743200"/>
            <a:ext cx="6675120" cy="274320"/>
          </a:xfrm>
          <a:prstGeom prst="rect">
            <a:avLst/>
          </a:prstGeom>
          <a:noFill/>
          <a:ln/>
        </p:spPr>
        <p:txBody>
          <a:bodyPr wrap="square" lIns="0" tIns="0" rIns="0" bIns="0" rtlCol="0" anchor="ctr"/>
          <a:lstStyle/>
          <a:p>
            <a:pPr marL="0" indent="0">
              <a:buNone/>
            </a:pPr>
            <a:r>
              <a:rPr lang="en-US" sz="1400" b="1" dirty="0">
                <a:solidFill>
                  <a:srgbClr val="8B2500"/>
                </a:solidFill>
                <a:latin typeface="Georgia" pitchFamily="34" charset="0"/>
                <a:ea typeface="Georgia" pitchFamily="34" charset="-122"/>
                <a:cs typeface="Georgia" pitchFamily="34" charset="-120"/>
              </a:rPr>
              <a:t>The Wilderness Masters the Colonist</a:t>
            </a:r>
            <a:endParaRPr lang="en-US" sz="1400" dirty="0"/>
          </a:p>
        </p:txBody>
      </p:sp>
      <p:sp>
        <p:nvSpPr>
          <p:cNvPr id="12" name="Text 8"/>
          <p:cNvSpPr/>
          <p:nvPr/>
        </p:nvSpPr>
        <p:spPr>
          <a:xfrm>
            <a:off x="1554480" y="3035808"/>
            <a:ext cx="6675120" cy="548640"/>
          </a:xfrm>
          <a:prstGeom prst="rect">
            <a:avLst/>
          </a:prstGeom>
          <a:noFill/>
          <a:ln/>
        </p:spPr>
        <p:txBody>
          <a:bodyPr wrap="square" lIns="0" tIns="0" rIns="0" bIns="0" rtlCol="0" anchor="ctr"/>
          <a:lstStyle/>
          <a:p>
            <a:pPr marL="0" indent="0">
              <a:lnSpc>
                <a:spcPct val="120000"/>
              </a:lnSpc>
              <a:buNone/>
            </a:pPr>
            <a:r>
              <a:rPr lang="en-US" sz="1150" dirty="0">
                <a:solidFill>
                  <a:srgbClr val="1A1210"/>
                </a:solidFill>
                <a:latin typeface="Calibri" pitchFamily="34" charset="0"/>
                <a:ea typeface="Calibri" pitchFamily="34" charset="-122"/>
                <a:cs typeface="Calibri" pitchFamily="34" charset="-120"/>
              </a:rPr>
              <a:t>Turner wrote that the wilderness strips off the garments of civilization and forces adaptation. Arthur Morgan and the gang live this — nomadic, self-sufficient, viewing themselves as fundamentally different from industrialized society.</a:t>
            </a:r>
            <a:endParaRPr lang="en-US" sz="1150" dirty="0"/>
          </a:p>
        </p:txBody>
      </p:sp>
      <p:sp>
        <p:nvSpPr>
          <p:cNvPr id="13" name="Shape 9"/>
          <p:cNvSpPr/>
          <p:nvPr/>
        </p:nvSpPr>
        <p:spPr>
          <a:xfrm>
            <a:off x="640080" y="3794760"/>
            <a:ext cx="7863840" cy="100584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868680" y="4069080"/>
            <a:ext cx="457200" cy="457200"/>
          </a:xfrm>
          <a:prstGeom prst="rect">
            <a:avLst/>
          </a:prstGeom>
        </p:spPr>
      </p:pic>
      <p:sp>
        <p:nvSpPr>
          <p:cNvPr id="15" name="Text 10"/>
          <p:cNvSpPr/>
          <p:nvPr/>
        </p:nvSpPr>
        <p:spPr>
          <a:xfrm>
            <a:off x="1554480" y="3886200"/>
            <a:ext cx="6675120" cy="274320"/>
          </a:xfrm>
          <a:prstGeom prst="rect">
            <a:avLst/>
          </a:prstGeom>
          <a:noFill/>
          <a:ln/>
        </p:spPr>
        <p:txBody>
          <a:bodyPr wrap="square" lIns="0" tIns="0" rIns="0" bIns="0" rtlCol="0" anchor="ctr"/>
          <a:lstStyle/>
          <a:p>
            <a:pPr marL="0" indent="0">
              <a:buNone/>
            </a:pPr>
            <a:r>
              <a:rPr lang="en-US" sz="1400" b="1" dirty="0">
                <a:solidFill>
                  <a:srgbClr val="8B2500"/>
                </a:solidFill>
                <a:latin typeface="Georgia" pitchFamily="34" charset="0"/>
                <a:ea typeface="Georgia" pitchFamily="34" charset="-122"/>
                <a:cs typeface="Georgia" pitchFamily="34" charset="-120"/>
              </a:rPr>
              <a:t>A World in Transition</a:t>
            </a:r>
            <a:endParaRPr lang="en-US" sz="1400" dirty="0"/>
          </a:p>
        </p:txBody>
      </p:sp>
      <p:sp>
        <p:nvSpPr>
          <p:cNvPr id="16" name="Text 11"/>
          <p:cNvSpPr/>
          <p:nvPr/>
        </p:nvSpPr>
        <p:spPr>
          <a:xfrm>
            <a:off x="1554480" y="4178808"/>
            <a:ext cx="6675120" cy="548640"/>
          </a:xfrm>
          <a:prstGeom prst="rect">
            <a:avLst/>
          </a:prstGeom>
          <a:noFill/>
          <a:ln/>
        </p:spPr>
        <p:txBody>
          <a:bodyPr wrap="square" lIns="0" tIns="0" rIns="0" bIns="0" rtlCol="0" anchor="ctr"/>
          <a:lstStyle/>
          <a:p>
            <a:pPr marL="0" indent="0">
              <a:lnSpc>
                <a:spcPct val="120000"/>
              </a:lnSpc>
              <a:buNone/>
            </a:pPr>
            <a:r>
              <a:rPr lang="en-US" sz="1150" dirty="0">
                <a:solidFill>
                  <a:srgbClr val="1A1210"/>
                </a:solidFill>
                <a:latin typeface="Calibri" pitchFamily="34" charset="0"/>
                <a:ea typeface="Calibri" pitchFamily="34" charset="-122"/>
                <a:cs typeface="Calibri" pitchFamily="34" charset="-120"/>
              </a:rPr>
              <a:t>RDR2 dramatizes the exact process Turner described: the transition from primitive economic and political conditions of the frontier into the complexity of city life. Players experience this through gameplay as industrialized towns replace open wilderness.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21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2500"/>
          </a:solidFill>
          <a:ln/>
        </p:spPr>
        <p:txBody>
          <a:bodyPr/>
          <a:lstStyle/>
          <a:p>
            <a:endParaRPr lang="en-US"/>
          </a:p>
        </p:txBody>
      </p:sp>
      <p:sp>
        <p:nvSpPr>
          <p:cNvPr id="3" name="Text 1"/>
          <p:cNvSpPr/>
          <p:nvPr/>
        </p:nvSpPr>
        <p:spPr>
          <a:xfrm>
            <a:off x="640080" y="320040"/>
            <a:ext cx="7772400" cy="868680"/>
          </a:xfrm>
          <a:prstGeom prst="rect">
            <a:avLst/>
          </a:prstGeom>
          <a:noFill/>
          <a:ln/>
        </p:spPr>
        <p:txBody>
          <a:bodyPr wrap="square" lIns="0" tIns="0" rIns="0" bIns="0" rtlCol="0" anchor="ctr"/>
          <a:lstStyle/>
          <a:p>
            <a:pPr marL="0" indent="0">
              <a:lnSpc>
                <a:spcPct val="110000"/>
              </a:lnSpc>
              <a:buNone/>
            </a:pPr>
            <a:r>
              <a:rPr lang="en-US" sz="3000" b="1" dirty="0">
                <a:solidFill>
                  <a:srgbClr val="F2E8D5"/>
                </a:solidFill>
                <a:latin typeface="Georgia" pitchFamily="34" charset="0"/>
                <a:ea typeface="Georgia" pitchFamily="34" charset="-122"/>
                <a:cs typeface="Georgia" pitchFamily="34" charset="-120"/>
              </a:rPr>
              <a:t>Rugged Individualism &amp;</a:t>
            </a:r>
            <a:endParaRPr lang="en-US" sz="3000" dirty="0"/>
          </a:p>
          <a:p>
            <a:pPr marL="0" indent="0">
              <a:lnSpc>
                <a:spcPct val="110000"/>
              </a:lnSpc>
              <a:buNone/>
            </a:pPr>
            <a:r>
              <a:rPr lang="en-US" sz="3000" b="1" dirty="0">
                <a:solidFill>
                  <a:srgbClr val="F2E8D5"/>
                </a:solidFill>
                <a:latin typeface="Georgia" pitchFamily="34" charset="0"/>
                <a:ea typeface="Georgia" pitchFamily="34" charset="-122"/>
                <a:cs typeface="Georgia" pitchFamily="34" charset="-120"/>
              </a:rPr>
              <a:t>Anti-Government Sentiment</a:t>
            </a:r>
            <a:endParaRPr lang="en-US" sz="3000" dirty="0"/>
          </a:p>
        </p:txBody>
      </p:sp>
      <p:sp>
        <p:nvSpPr>
          <p:cNvPr id="4" name="Shape 2"/>
          <p:cNvSpPr/>
          <p:nvPr/>
        </p:nvSpPr>
        <p:spPr>
          <a:xfrm>
            <a:off x="640080" y="1371600"/>
            <a:ext cx="7863840" cy="777240"/>
          </a:xfrm>
          <a:prstGeom prst="rect">
            <a:avLst/>
          </a:prstGeom>
          <a:solidFill>
            <a:srgbClr val="2C1E15"/>
          </a:solidFill>
          <a:ln/>
          <a:effectLst>
            <a:outerShdw blurRad="76200" dist="25400" dir="8100000" algn="bl" rotWithShape="0">
              <a:srgbClr val="000000">
                <a:alpha val="1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868680" y="1463040"/>
            <a:ext cx="274320" cy="274320"/>
          </a:xfrm>
          <a:prstGeom prst="rect">
            <a:avLst/>
          </a:prstGeom>
        </p:spPr>
      </p:pic>
      <p:sp>
        <p:nvSpPr>
          <p:cNvPr id="6" name="Text 3"/>
          <p:cNvSpPr/>
          <p:nvPr/>
        </p:nvSpPr>
        <p:spPr>
          <a:xfrm>
            <a:off x="1280160" y="1417320"/>
            <a:ext cx="7040880" cy="685800"/>
          </a:xfrm>
          <a:prstGeom prst="rect">
            <a:avLst/>
          </a:prstGeom>
          <a:noFill/>
          <a:ln/>
        </p:spPr>
        <p:txBody>
          <a:bodyPr wrap="square" lIns="0" tIns="0" rIns="0" bIns="0" rtlCol="0" anchor="ctr"/>
          <a:lstStyle/>
          <a:p>
            <a:pPr marL="0" indent="0">
              <a:buNone/>
            </a:pPr>
            <a:r>
              <a:rPr lang="en-US" sz="1400" i="1" dirty="0">
                <a:solidFill>
                  <a:srgbClr val="F2E8D5"/>
                </a:solidFill>
                <a:latin typeface="Georgia" pitchFamily="34" charset="0"/>
                <a:ea typeface="Georgia" pitchFamily="34" charset="-122"/>
                <a:cs typeface="Georgia" pitchFamily="34" charset="-120"/>
              </a:rPr>
              <a:t>Turner argued the frontier promoted a strong, sometimes anti-social individualism and a distinct antipathy to direct control.</a:t>
            </a:r>
            <a:endParaRPr lang="en-US" sz="1400" dirty="0"/>
          </a:p>
        </p:txBody>
      </p:sp>
      <p:sp>
        <p:nvSpPr>
          <p:cNvPr id="7" name="Shape 4"/>
          <p:cNvSpPr/>
          <p:nvPr/>
        </p:nvSpPr>
        <p:spPr>
          <a:xfrm>
            <a:off x="640080" y="2377440"/>
            <a:ext cx="3749040" cy="2377440"/>
          </a:xfrm>
          <a:prstGeom prst="rect">
            <a:avLst/>
          </a:prstGeom>
          <a:solidFill>
            <a:srgbClr val="2C1E15"/>
          </a:solidFill>
          <a:ln/>
          <a:effectLst>
            <a:outerShdw blurRad="76200" dist="25400" dir="8100000" algn="bl" rotWithShape="0">
              <a:srgbClr val="000000">
                <a:alpha val="15000"/>
              </a:srgbClr>
            </a:outerShdw>
          </a:effectLst>
        </p:spPr>
        <p:txBody>
          <a:bodyPr/>
          <a:lstStyle/>
          <a:p>
            <a:endParaRPr lang="en-US"/>
          </a:p>
        </p:txBody>
      </p:sp>
      <p:sp>
        <p:nvSpPr>
          <p:cNvPr id="8" name="Shape 5"/>
          <p:cNvSpPr/>
          <p:nvPr/>
        </p:nvSpPr>
        <p:spPr>
          <a:xfrm>
            <a:off x="640080" y="2377440"/>
            <a:ext cx="64008" cy="2377440"/>
          </a:xfrm>
          <a:prstGeom prst="rect">
            <a:avLst/>
          </a:prstGeom>
          <a:solidFill>
            <a:srgbClr val="C4854C"/>
          </a:solidFill>
          <a:ln/>
        </p:spPr>
        <p:txBody>
          <a:bodyPr/>
          <a:lstStyle/>
          <a:p>
            <a:endParaRPr lang="en-US"/>
          </a:p>
        </p:txBody>
      </p:sp>
      <p:sp>
        <p:nvSpPr>
          <p:cNvPr id="9" name="Text 6"/>
          <p:cNvSpPr/>
          <p:nvPr/>
        </p:nvSpPr>
        <p:spPr>
          <a:xfrm>
            <a:off x="914400" y="2514600"/>
            <a:ext cx="3200400" cy="320040"/>
          </a:xfrm>
          <a:prstGeom prst="rect">
            <a:avLst/>
          </a:prstGeom>
          <a:noFill/>
          <a:ln/>
        </p:spPr>
        <p:txBody>
          <a:bodyPr wrap="square" lIns="0" tIns="0" rIns="0" bIns="0" rtlCol="0" anchor="ctr"/>
          <a:lstStyle/>
          <a:p>
            <a:pPr marL="0" indent="0">
              <a:buNone/>
            </a:pPr>
            <a:r>
              <a:rPr lang="en-US" sz="1600" b="1" dirty="0">
                <a:solidFill>
                  <a:srgbClr val="C4854C"/>
                </a:solidFill>
                <a:latin typeface="Georgia" pitchFamily="34" charset="0"/>
                <a:ea typeface="Georgia" pitchFamily="34" charset="-122"/>
                <a:cs typeface="Georgia" pitchFamily="34" charset="-120"/>
              </a:rPr>
              <a:t>The Outlaw Philosophy</a:t>
            </a:r>
            <a:endParaRPr lang="en-US" sz="1600" dirty="0"/>
          </a:p>
        </p:txBody>
      </p:sp>
      <p:sp>
        <p:nvSpPr>
          <p:cNvPr id="10" name="Text 7"/>
          <p:cNvSpPr/>
          <p:nvPr/>
        </p:nvSpPr>
        <p:spPr>
          <a:xfrm>
            <a:off x="914400" y="2926080"/>
            <a:ext cx="3200400" cy="1691640"/>
          </a:xfrm>
          <a:prstGeom prst="rect">
            <a:avLst/>
          </a:prstGeom>
          <a:noFill/>
          <a:ln/>
        </p:spPr>
        <p:txBody>
          <a:bodyPr wrap="square" lIns="0" tIns="0" rIns="0" bIns="0" rtlCol="0" anchor="ctr"/>
          <a:lstStyle/>
          <a:p>
            <a:pPr marL="0" indent="0">
              <a:lnSpc>
                <a:spcPct val="125000"/>
              </a:lnSpc>
              <a:buNone/>
            </a:pPr>
            <a:r>
              <a:rPr lang="en-US" sz="1200" dirty="0">
                <a:solidFill>
                  <a:srgbClr val="F2E8D5"/>
                </a:solidFill>
                <a:latin typeface="Calibri" pitchFamily="34" charset="0"/>
                <a:ea typeface="Calibri" pitchFamily="34" charset="-122"/>
                <a:cs typeface="Calibri" pitchFamily="34" charset="-120"/>
              </a:rPr>
              <a:t>The Van der Linde gang embodies Turnerian individualism: opposition to government intervention and taxation, viewing the tax-gatherer as oppressive. Dutch's anarchistic vision of freedom from government interference mirrors what Turner identified as the frontier's tendency to produce antipathy to control.</a:t>
            </a:r>
            <a:endParaRPr lang="en-US" sz="1200" dirty="0"/>
          </a:p>
        </p:txBody>
      </p:sp>
      <p:sp>
        <p:nvSpPr>
          <p:cNvPr id="11" name="Shape 8"/>
          <p:cNvSpPr/>
          <p:nvPr/>
        </p:nvSpPr>
        <p:spPr>
          <a:xfrm>
            <a:off x="4754880" y="2377440"/>
            <a:ext cx="3749040" cy="2377440"/>
          </a:xfrm>
          <a:prstGeom prst="rect">
            <a:avLst/>
          </a:prstGeom>
          <a:solidFill>
            <a:srgbClr val="2C1E15"/>
          </a:solidFill>
          <a:ln/>
          <a:effectLst>
            <a:outerShdw blurRad="76200" dist="25400" dir="8100000" algn="bl" rotWithShape="0">
              <a:srgbClr val="000000">
                <a:alpha val="15000"/>
              </a:srgbClr>
            </a:outerShdw>
          </a:effectLst>
        </p:spPr>
        <p:txBody>
          <a:bodyPr/>
          <a:lstStyle/>
          <a:p>
            <a:endParaRPr lang="en-US"/>
          </a:p>
        </p:txBody>
      </p:sp>
      <p:sp>
        <p:nvSpPr>
          <p:cNvPr id="12" name="Shape 9"/>
          <p:cNvSpPr/>
          <p:nvPr/>
        </p:nvSpPr>
        <p:spPr>
          <a:xfrm>
            <a:off x="4754880" y="2377440"/>
            <a:ext cx="64008" cy="2377440"/>
          </a:xfrm>
          <a:prstGeom prst="rect">
            <a:avLst/>
          </a:prstGeom>
          <a:solidFill>
            <a:srgbClr val="C4854C"/>
          </a:solidFill>
          <a:ln/>
        </p:spPr>
        <p:txBody>
          <a:bodyPr/>
          <a:lstStyle/>
          <a:p>
            <a:endParaRPr lang="en-US"/>
          </a:p>
        </p:txBody>
      </p:sp>
      <p:sp>
        <p:nvSpPr>
          <p:cNvPr id="13" name="Text 10"/>
          <p:cNvSpPr/>
          <p:nvPr/>
        </p:nvSpPr>
        <p:spPr>
          <a:xfrm>
            <a:off x="5029200" y="2514600"/>
            <a:ext cx="3200400" cy="320040"/>
          </a:xfrm>
          <a:prstGeom prst="rect">
            <a:avLst/>
          </a:prstGeom>
          <a:noFill/>
          <a:ln/>
        </p:spPr>
        <p:txBody>
          <a:bodyPr wrap="square" lIns="0" tIns="0" rIns="0" bIns="0" rtlCol="0" anchor="ctr"/>
          <a:lstStyle/>
          <a:p>
            <a:pPr marL="0" indent="0">
              <a:buNone/>
            </a:pPr>
            <a:r>
              <a:rPr lang="en-US" sz="1600" b="1" dirty="0">
                <a:solidFill>
                  <a:srgbClr val="C4854C"/>
                </a:solidFill>
                <a:latin typeface="Georgia" pitchFamily="34" charset="0"/>
                <a:ea typeface="Georgia" pitchFamily="34" charset="-122"/>
                <a:cs typeface="Georgia" pitchFamily="34" charset="-120"/>
              </a:rPr>
              <a:t>The "Cult of the Outlaw"</a:t>
            </a:r>
            <a:endParaRPr lang="en-US" sz="1600" dirty="0"/>
          </a:p>
        </p:txBody>
      </p:sp>
      <p:sp>
        <p:nvSpPr>
          <p:cNvPr id="14" name="Text 11"/>
          <p:cNvSpPr/>
          <p:nvPr/>
        </p:nvSpPr>
        <p:spPr>
          <a:xfrm>
            <a:off x="5029200" y="2926080"/>
            <a:ext cx="3200400" cy="1691640"/>
          </a:xfrm>
          <a:prstGeom prst="rect">
            <a:avLst/>
          </a:prstGeom>
          <a:noFill/>
          <a:ln/>
        </p:spPr>
        <p:txBody>
          <a:bodyPr wrap="square" lIns="0" tIns="0" rIns="0" bIns="0" rtlCol="0" anchor="ctr"/>
          <a:lstStyle/>
          <a:p>
            <a:pPr marL="0" indent="0">
              <a:lnSpc>
                <a:spcPct val="125000"/>
              </a:lnSpc>
              <a:buNone/>
            </a:pPr>
            <a:r>
              <a:rPr lang="en-US" sz="1200" dirty="0">
                <a:solidFill>
                  <a:srgbClr val="F2E8D5"/>
                </a:solidFill>
                <a:latin typeface="Calibri" pitchFamily="34" charset="0"/>
                <a:ea typeface="Calibri" pitchFamily="34" charset="-122"/>
                <a:cs typeface="Calibri" pitchFamily="34" charset="-120"/>
              </a:rPr>
              <a:t>RDR2 offers what scholars call a progressive, left-wing reading of Turner — the "cult of the outlaw." In this interpretation, the outlaws represent the common people Turner championed, now crushed between corporate capitalism and federal law. The gang becomes a vessel for Turnerian populism.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0E4"/>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8B2500"/>
          </a:solidFill>
          <a:ln/>
        </p:spPr>
        <p:txBody>
          <a:bodyPr/>
          <a:lstStyle/>
          <a:p>
            <a:endParaRPr lang="en-US"/>
          </a:p>
        </p:txBody>
      </p:sp>
      <p:sp>
        <p:nvSpPr>
          <p:cNvPr id="3" name="Text 1"/>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1210"/>
                </a:solidFill>
                <a:latin typeface="Georgia" pitchFamily="34" charset="0"/>
                <a:ea typeface="Georgia" pitchFamily="34" charset="-122"/>
                <a:cs typeface="Georgia" pitchFamily="34" charset="-120"/>
              </a:rPr>
              <a:t>Composite Nationality</a:t>
            </a:r>
            <a:endParaRPr lang="en-US" sz="3200" dirty="0"/>
          </a:p>
        </p:txBody>
      </p:sp>
      <p:sp>
        <p:nvSpPr>
          <p:cNvPr id="4" name="Text 2"/>
          <p:cNvSpPr/>
          <p:nvPr/>
        </p:nvSpPr>
        <p:spPr>
          <a:xfrm>
            <a:off x="640080" y="960120"/>
            <a:ext cx="7772400" cy="320040"/>
          </a:xfrm>
          <a:prstGeom prst="rect">
            <a:avLst/>
          </a:prstGeom>
          <a:noFill/>
          <a:ln/>
        </p:spPr>
        <p:txBody>
          <a:bodyPr wrap="square" lIns="0" tIns="0" rIns="0" bIns="0" rtlCol="0" anchor="ctr"/>
          <a:lstStyle/>
          <a:p>
            <a:pPr marL="0" indent="0">
              <a:buNone/>
            </a:pPr>
            <a:r>
              <a:rPr lang="en-US" sz="1300" i="1" dirty="0">
                <a:solidFill>
                  <a:srgbClr val="8A7B6B"/>
                </a:solidFill>
                <a:latin typeface="Calibri" pitchFamily="34" charset="0"/>
                <a:ea typeface="Calibri" pitchFamily="34" charset="-122"/>
                <a:cs typeface="Calibri" pitchFamily="34" charset="-120"/>
              </a:rPr>
              <a:t>The frontier as melting pot — Turner's vision, Rockstar's realization</a:t>
            </a:r>
            <a:endParaRPr lang="en-US" sz="1300" dirty="0"/>
          </a:p>
        </p:txBody>
      </p:sp>
      <p:sp>
        <p:nvSpPr>
          <p:cNvPr id="5" name="Shape 3"/>
          <p:cNvSpPr/>
          <p:nvPr/>
        </p:nvSpPr>
        <p:spPr>
          <a:xfrm>
            <a:off x="640080" y="1508760"/>
            <a:ext cx="3749040" cy="320040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6" name="Shape 4"/>
          <p:cNvSpPr/>
          <p:nvPr/>
        </p:nvSpPr>
        <p:spPr>
          <a:xfrm>
            <a:off x="640080" y="1508760"/>
            <a:ext cx="3749040" cy="457200"/>
          </a:xfrm>
          <a:prstGeom prst="rect">
            <a:avLst/>
          </a:prstGeom>
          <a:solidFill>
            <a:srgbClr val="8B250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77240" y="1572768"/>
            <a:ext cx="320040" cy="320040"/>
          </a:xfrm>
          <a:prstGeom prst="rect">
            <a:avLst/>
          </a:prstGeom>
        </p:spPr>
      </p:pic>
      <p:sp>
        <p:nvSpPr>
          <p:cNvPr id="8" name="Text 5"/>
          <p:cNvSpPr/>
          <p:nvPr/>
        </p:nvSpPr>
        <p:spPr>
          <a:xfrm>
            <a:off x="1188720" y="1508760"/>
            <a:ext cx="3017520" cy="45720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Turner's Argument</a:t>
            </a:r>
            <a:endParaRPr lang="en-US" sz="1400" dirty="0"/>
          </a:p>
        </p:txBody>
      </p:sp>
      <p:sp>
        <p:nvSpPr>
          <p:cNvPr id="9" name="Text 6"/>
          <p:cNvSpPr/>
          <p:nvPr/>
        </p:nvSpPr>
        <p:spPr>
          <a:xfrm>
            <a:off x="914400" y="2148840"/>
            <a:ext cx="3200400" cy="1371600"/>
          </a:xfrm>
          <a:prstGeom prst="rect">
            <a:avLst/>
          </a:prstGeom>
          <a:noFill/>
          <a:ln/>
        </p:spPr>
        <p:txBody>
          <a:bodyPr wrap="square" lIns="0" tIns="0" rIns="0" bIns="0" rtlCol="0" anchor="ctr"/>
          <a:lstStyle/>
          <a:p>
            <a:pPr marL="0" indent="0">
              <a:lnSpc>
                <a:spcPct val="130000"/>
              </a:lnSpc>
              <a:buNone/>
            </a:pPr>
            <a:r>
              <a:rPr lang="en-US" sz="1200" dirty="0">
                <a:solidFill>
                  <a:srgbClr val="1A1210"/>
                </a:solidFill>
                <a:latin typeface="Calibri" pitchFamily="34" charset="0"/>
                <a:ea typeface="Calibri" pitchFamily="34" charset="-122"/>
                <a:cs typeface="Calibri" pitchFamily="34" charset="-120"/>
              </a:rPr>
              <a:t>Turner argued the frontier promoted the formation of a composite nationality — immigrants from various backgrounds were "melted" into a new American identity. The frontier experience, not European heritage, created the American.</a:t>
            </a:r>
            <a:endParaRPr lang="en-US" sz="1200" dirty="0"/>
          </a:p>
        </p:txBody>
      </p:sp>
      <p:sp>
        <p:nvSpPr>
          <p:cNvPr id="10" name="Text 7"/>
          <p:cNvSpPr/>
          <p:nvPr/>
        </p:nvSpPr>
        <p:spPr>
          <a:xfrm>
            <a:off x="914400" y="3566160"/>
            <a:ext cx="3200400" cy="731520"/>
          </a:xfrm>
          <a:prstGeom prst="rect">
            <a:avLst/>
          </a:prstGeom>
          <a:noFill/>
          <a:ln/>
        </p:spPr>
        <p:txBody>
          <a:bodyPr wrap="square" lIns="0" tIns="0" rIns="0" bIns="0" rtlCol="0" anchor="ctr"/>
          <a:lstStyle/>
          <a:p>
            <a:pPr marL="0" indent="0">
              <a:lnSpc>
                <a:spcPct val="125000"/>
              </a:lnSpc>
              <a:buNone/>
            </a:pPr>
            <a:r>
              <a:rPr lang="en-US" sz="1100" i="1" dirty="0">
                <a:solidFill>
                  <a:srgbClr val="8A7B6B"/>
                </a:solidFill>
                <a:latin typeface="Calibri" pitchFamily="34" charset="0"/>
                <a:ea typeface="Calibri" pitchFamily="34" charset="-122"/>
                <a:cs typeface="Calibri" pitchFamily="34" charset="-120"/>
              </a:rPr>
              <a:t>The frontier acted as a crucible where diverse peoples developed into something new.</a:t>
            </a:r>
            <a:endParaRPr lang="en-US" sz="1100" dirty="0"/>
          </a:p>
        </p:txBody>
      </p:sp>
      <p:sp>
        <p:nvSpPr>
          <p:cNvPr id="11" name="Shape 8"/>
          <p:cNvSpPr/>
          <p:nvPr/>
        </p:nvSpPr>
        <p:spPr>
          <a:xfrm>
            <a:off x="4754880" y="1508760"/>
            <a:ext cx="3749040" cy="320040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12" name="Shape 9"/>
          <p:cNvSpPr/>
          <p:nvPr/>
        </p:nvSpPr>
        <p:spPr>
          <a:xfrm>
            <a:off x="4754880" y="1508760"/>
            <a:ext cx="3749040" cy="457200"/>
          </a:xfrm>
          <a:prstGeom prst="rect">
            <a:avLst/>
          </a:prstGeom>
          <a:solidFill>
            <a:srgbClr val="C4854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892040" y="1572768"/>
            <a:ext cx="320040" cy="320040"/>
          </a:xfrm>
          <a:prstGeom prst="rect">
            <a:avLst/>
          </a:prstGeom>
        </p:spPr>
      </p:pic>
      <p:sp>
        <p:nvSpPr>
          <p:cNvPr id="14" name="Text 10"/>
          <p:cNvSpPr/>
          <p:nvPr/>
        </p:nvSpPr>
        <p:spPr>
          <a:xfrm>
            <a:off x="5303520" y="1508760"/>
            <a:ext cx="3017520" cy="45720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RDR2's Multicultural Gang</a:t>
            </a:r>
            <a:endParaRPr lang="en-US" sz="1400" dirty="0"/>
          </a:p>
        </p:txBody>
      </p:sp>
      <p:sp>
        <p:nvSpPr>
          <p:cNvPr id="15" name="Text 11"/>
          <p:cNvSpPr/>
          <p:nvPr/>
        </p:nvSpPr>
        <p:spPr>
          <a:xfrm>
            <a:off x="5029200" y="2148840"/>
            <a:ext cx="3200400" cy="822960"/>
          </a:xfrm>
          <a:prstGeom prst="rect">
            <a:avLst/>
          </a:prstGeom>
          <a:noFill/>
          <a:ln/>
        </p:spPr>
        <p:txBody>
          <a:bodyPr wrap="square" lIns="0" tIns="0" rIns="0" bIns="0" rtlCol="0" anchor="ctr"/>
          <a:lstStyle/>
          <a:p>
            <a:pPr marL="0" indent="0">
              <a:lnSpc>
                <a:spcPct val="130000"/>
              </a:lnSpc>
              <a:buNone/>
            </a:pPr>
            <a:r>
              <a:rPr lang="en-US" sz="1200" dirty="0">
                <a:solidFill>
                  <a:srgbClr val="1A1210"/>
                </a:solidFill>
                <a:latin typeface="Calibri" pitchFamily="34" charset="0"/>
                <a:ea typeface="Calibri" pitchFamily="34" charset="-122"/>
                <a:cs typeface="Calibri" pitchFamily="34" charset="-120"/>
              </a:rPr>
              <a:t>The Van der Linde gang is a microcosm of the United States — a multicultural family united by the frontier experience rather than race:</a:t>
            </a:r>
            <a:endParaRPr lang="en-US" sz="1200" dirty="0"/>
          </a:p>
        </p:txBody>
      </p:sp>
      <p:sp>
        <p:nvSpPr>
          <p:cNvPr id="16" name="Text 12"/>
          <p:cNvSpPr/>
          <p:nvPr/>
        </p:nvSpPr>
        <p:spPr>
          <a:xfrm>
            <a:off x="5029200" y="3017520"/>
            <a:ext cx="3200400" cy="1371600"/>
          </a:xfrm>
          <a:prstGeom prst="rect">
            <a:avLst/>
          </a:prstGeom>
          <a:noFill/>
          <a:ln/>
        </p:spPr>
        <p:txBody>
          <a:bodyPr wrap="square" rtlCol="0" anchor="ctr"/>
          <a:lstStyle/>
          <a:p>
            <a:pPr marL="342900" indent="-342900">
              <a:lnSpc>
                <a:spcPct val="115000"/>
              </a:lnSpc>
              <a:spcAft>
                <a:spcPts val="600"/>
              </a:spcAft>
              <a:buSzPct val="100000"/>
              <a:buChar char="•"/>
            </a:pPr>
            <a:r>
              <a:rPr lang="en-US" sz="1150" dirty="0">
                <a:solidFill>
                  <a:srgbClr val="1A1210"/>
                </a:solidFill>
                <a:latin typeface="Calibri" pitchFamily="34" charset="0"/>
                <a:ea typeface="Calibri" pitchFamily="34" charset="-122"/>
                <a:cs typeface="Calibri" pitchFamily="34" charset="-120"/>
              </a:rPr>
              <a:t>African Americans (Lenny, Charles, Tilly)</a:t>
            </a:r>
            <a:endParaRPr lang="en-US" sz="1150" dirty="0"/>
          </a:p>
          <a:p>
            <a:pPr marL="342900" indent="-342900">
              <a:lnSpc>
                <a:spcPct val="115000"/>
              </a:lnSpc>
              <a:spcAft>
                <a:spcPts val="600"/>
              </a:spcAft>
              <a:buSzPct val="100000"/>
              <a:buChar char="•"/>
            </a:pPr>
            <a:r>
              <a:rPr lang="en-US" sz="1150" dirty="0">
                <a:solidFill>
                  <a:srgbClr val="1A1210"/>
                </a:solidFill>
                <a:latin typeface="Calibri" pitchFamily="34" charset="0"/>
                <a:ea typeface="Calibri" pitchFamily="34" charset="-122"/>
                <a:cs typeface="Calibri" pitchFamily="34" charset="-120"/>
              </a:rPr>
              <a:t>Mexican revolutionaries (Javier)</a:t>
            </a:r>
            <a:endParaRPr lang="en-US" sz="1150" dirty="0"/>
          </a:p>
          <a:p>
            <a:pPr marL="342900" indent="-342900">
              <a:lnSpc>
                <a:spcPct val="115000"/>
              </a:lnSpc>
              <a:spcAft>
                <a:spcPts val="600"/>
              </a:spcAft>
              <a:buSzPct val="100000"/>
              <a:buChar char="•"/>
            </a:pPr>
            <a:r>
              <a:rPr lang="en-US" sz="1150" dirty="0">
                <a:solidFill>
                  <a:srgbClr val="1A1210"/>
                </a:solidFill>
                <a:latin typeface="Calibri" pitchFamily="34" charset="0"/>
                <a:ea typeface="Calibri" pitchFamily="34" charset="-122"/>
                <a:cs typeface="Calibri" pitchFamily="34" charset="-120"/>
              </a:rPr>
              <a:t>European immigrants (multiple)</a:t>
            </a:r>
            <a:endParaRPr lang="en-US" sz="1150" dirty="0"/>
          </a:p>
          <a:p>
            <a:pPr marL="342900" indent="-342900">
              <a:lnSpc>
                <a:spcPct val="115000"/>
              </a:lnSpc>
              <a:spcAft>
                <a:spcPts val="600"/>
              </a:spcAft>
              <a:buSzPct val="100000"/>
              <a:buChar char="•"/>
            </a:pPr>
            <a:r>
              <a:rPr lang="en-US" sz="1150" dirty="0">
                <a:solidFill>
                  <a:srgbClr val="1A1210"/>
                </a:solidFill>
                <a:latin typeface="Calibri" pitchFamily="34" charset="0"/>
                <a:ea typeface="Calibri" pitchFamily="34" charset="-122"/>
                <a:cs typeface="Calibri" pitchFamily="34" charset="-120"/>
              </a:rPr>
              <a:t>Native Americans (Charles, Eagle Flies)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0E4"/>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8B2500"/>
          </a:solidFill>
          <a:ln/>
        </p:spPr>
        <p:txBody>
          <a:bodyPr/>
          <a:lstStyle/>
          <a:p>
            <a:endParaRPr lang="en-US"/>
          </a:p>
        </p:txBody>
      </p:sp>
      <p:sp>
        <p:nvSpPr>
          <p:cNvPr id="3" name="Text 1"/>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1210"/>
                </a:solidFill>
                <a:latin typeface="Georgia" pitchFamily="34" charset="0"/>
                <a:ea typeface="Georgia" pitchFamily="34" charset="-122"/>
                <a:cs typeface="Georgia" pitchFamily="34" charset="-120"/>
              </a:rPr>
              <a:t>Critique &amp; New Western History</a:t>
            </a:r>
            <a:endParaRPr lang="en-US" sz="3200" dirty="0"/>
          </a:p>
        </p:txBody>
      </p:sp>
      <p:sp>
        <p:nvSpPr>
          <p:cNvPr id="4" name="Text 2"/>
          <p:cNvSpPr/>
          <p:nvPr/>
        </p:nvSpPr>
        <p:spPr>
          <a:xfrm>
            <a:off x="640080" y="960120"/>
            <a:ext cx="7772400" cy="320040"/>
          </a:xfrm>
          <a:prstGeom prst="rect">
            <a:avLst/>
          </a:prstGeom>
          <a:noFill/>
          <a:ln/>
        </p:spPr>
        <p:txBody>
          <a:bodyPr wrap="square" lIns="0" tIns="0" rIns="0" bIns="0" rtlCol="0" anchor="ctr"/>
          <a:lstStyle/>
          <a:p>
            <a:pPr marL="0" indent="0">
              <a:buNone/>
            </a:pPr>
            <a:r>
              <a:rPr lang="en-US" sz="1300" i="1" dirty="0">
                <a:solidFill>
                  <a:srgbClr val="8A7B6B"/>
                </a:solidFill>
                <a:latin typeface="Calibri" pitchFamily="34" charset="0"/>
                <a:ea typeface="Calibri" pitchFamily="34" charset="-122"/>
                <a:cs typeface="Calibri" pitchFamily="34" charset="-120"/>
              </a:rPr>
              <a:t>Where RDR2 departs from Turner — and aligns with his critics</a:t>
            </a:r>
            <a:endParaRPr lang="en-US" sz="1300" dirty="0"/>
          </a:p>
        </p:txBody>
      </p:sp>
      <p:sp>
        <p:nvSpPr>
          <p:cNvPr id="5" name="Shape 3"/>
          <p:cNvSpPr/>
          <p:nvPr/>
        </p:nvSpPr>
        <p:spPr>
          <a:xfrm>
            <a:off x="640080" y="1508760"/>
            <a:ext cx="7863840" cy="146304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6" name="Shape 4"/>
          <p:cNvSpPr/>
          <p:nvPr/>
        </p:nvSpPr>
        <p:spPr>
          <a:xfrm>
            <a:off x="640080" y="1508760"/>
            <a:ext cx="64008" cy="1463040"/>
          </a:xfrm>
          <a:prstGeom prst="rect">
            <a:avLst/>
          </a:prstGeom>
          <a:solidFill>
            <a:srgbClr val="8B250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645920"/>
            <a:ext cx="365760" cy="365760"/>
          </a:xfrm>
          <a:prstGeom prst="rect">
            <a:avLst/>
          </a:prstGeom>
        </p:spPr>
      </p:pic>
      <p:sp>
        <p:nvSpPr>
          <p:cNvPr id="8" name="Text 5"/>
          <p:cNvSpPr/>
          <p:nvPr/>
        </p:nvSpPr>
        <p:spPr>
          <a:xfrm>
            <a:off x="1463040" y="1627632"/>
            <a:ext cx="6766560" cy="274320"/>
          </a:xfrm>
          <a:prstGeom prst="rect">
            <a:avLst/>
          </a:prstGeom>
          <a:noFill/>
          <a:ln/>
        </p:spPr>
        <p:txBody>
          <a:bodyPr wrap="square" lIns="0" tIns="0" rIns="0" bIns="0" rtlCol="0" anchor="ctr"/>
          <a:lstStyle/>
          <a:p>
            <a:pPr marL="0" indent="0">
              <a:buNone/>
            </a:pPr>
            <a:r>
              <a:rPr lang="en-US" sz="1600" b="1" dirty="0">
                <a:solidFill>
                  <a:srgbClr val="8B2500"/>
                </a:solidFill>
                <a:latin typeface="Georgia" pitchFamily="34" charset="0"/>
                <a:ea typeface="Georgia" pitchFamily="34" charset="-122"/>
                <a:cs typeface="Georgia" pitchFamily="34" charset="-120"/>
              </a:rPr>
              <a:t>Violence &amp; Conquest</a:t>
            </a:r>
            <a:endParaRPr lang="en-US" sz="1600" dirty="0"/>
          </a:p>
        </p:txBody>
      </p:sp>
      <p:sp>
        <p:nvSpPr>
          <p:cNvPr id="9" name="Text 6"/>
          <p:cNvSpPr/>
          <p:nvPr/>
        </p:nvSpPr>
        <p:spPr>
          <a:xfrm>
            <a:off x="914400" y="2011680"/>
            <a:ext cx="7315200" cy="868680"/>
          </a:xfrm>
          <a:prstGeom prst="rect">
            <a:avLst/>
          </a:prstGeom>
          <a:noFill/>
          <a:ln/>
        </p:spPr>
        <p:txBody>
          <a:bodyPr wrap="square" lIns="0" tIns="0" rIns="0" bIns="0" rtlCol="0" anchor="ctr"/>
          <a:lstStyle/>
          <a:p>
            <a:pPr marL="0" indent="0">
              <a:lnSpc>
                <a:spcPct val="130000"/>
              </a:lnSpc>
              <a:buNone/>
            </a:pPr>
            <a:r>
              <a:rPr lang="en-US" sz="1200" dirty="0">
                <a:solidFill>
                  <a:srgbClr val="1A1210"/>
                </a:solidFill>
                <a:latin typeface="Calibri" pitchFamily="34" charset="0"/>
                <a:ea typeface="Calibri" pitchFamily="34" charset="-122"/>
                <a:cs typeface="Calibri" pitchFamily="34" charset="-120"/>
              </a:rPr>
              <a:t>Turner largely downplayed violence, focusing on agrarian advance. RDR2 does the opposite — it emphasizes that the frontier was won through military violence, dispossession, and impoverishment of Native Americans. The game aligns with New Western History critics like Patricia Nelson Limerick, who argued Turner's thesis ignored the reality of conquest.</a:t>
            </a:r>
            <a:endParaRPr lang="en-US" sz="1200" dirty="0"/>
          </a:p>
        </p:txBody>
      </p:sp>
      <p:sp>
        <p:nvSpPr>
          <p:cNvPr id="10" name="Shape 7"/>
          <p:cNvSpPr/>
          <p:nvPr/>
        </p:nvSpPr>
        <p:spPr>
          <a:xfrm>
            <a:off x="640080" y="3246120"/>
            <a:ext cx="7863840" cy="146304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11" name="Shape 8"/>
          <p:cNvSpPr/>
          <p:nvPr/>
        </p:nvSpPr>
        <p:spPr>
          <a:xfrm>
            <a:off x="640080" y="3246120"/>
            <a:ext cx="64008" cy="1463040"/>
          </a:xfrm>
          <a:prstGeom prst="rect">
            <a:avLst/>
          </a:prstGeom>
          <a:solidFill>
            <a:srgbClr val="C4854C"/>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914400" y="3383280"/>
            <a:ext cx="365760" cy="365760"/>
          </a:xfrm>
          <a:prstGeom prst="rect">
            <a:avLst/>
          </a:prstGeom>
        </p:spPr>
      </p:pic>
      <p:sp>
        <p:nvSpPr>
          <p:cNvPr id="13" name="Text 9"/>
          <p:cNvSpPr/>
          <p:nvPr/>
        </p:nvSpPr>
        <p:spPr>
          <a:xfrm>
            <a:off x="1463040" y="3364992"/>
            <a:ext cx="6766560" cy="274320"/>
          </a:xfrm>
          <a:prstGeom prst="rect">
            <a:avLst/>
          </a:prstGeom>
          <a:noFill/>
          <a:ln/>
        </p:spPr>
        <p:txBody>
          <a:bodyPr wrap="square" lIns="0" tIns="0" rIns="0" bIns="0" rtlCol="0" anchor="ctr"/>
          <a:lstStyle/>
          <a:p>
            <a:pPr marL="0" indent="0">
              <a:buNone/>
            </a:pPr>
            <a:r>
              <a:rPr lang="en-US" sz="1600" b="1" dirty="0">
                <a:solidFill>
                  <a:srgbClr val="8B2500"/>
                </a:solidFill>
                <a:latin typeface="Georgia" pitchFamily="34" charset="0"/>
                <a:ea typeface="Georgia" pitchFamily="34" charset="-122"/>
                <a:cs typeface="Georgia" pitchFamily="34" charset="-120"/>
              </a:rPr>
              <a:t>A "Pastiche" of History</a:t>
            </a:r>
            <a:endParaRPr lang="en-US" sz="1600" dirty="0"/>
          </a:p>
        </p:txBody>
      </p:sp>
      <p:sp>
        <p:nvSpPr>
          <p:cNvPr id="14" name="Text 10"/>
          <p:cNvSpPr/>
          <p:nvPr/>
        </p:nvSpPr>
        <p:spPr>
          <a:xfrm>
            <a:off x="914400" y="3749040"/>
            <a:ext cx="7315200" cy="868680"/>
          </a:xfrm>
          <a:prstGeom prst="rect">
            <a:avLst/>
          </a:prstGeom>
          <a:noFill/>
          <a:ln/>
        </p:spPr>
        <p:txBody>
          <a:bodyPr wrap="square" lIns="0" tIns="0" rIns="0" bIns="0" rtlCol="0" anchor="ctr"/>
          <a:lstStyle/>
          <a:p>
            <a:pPr marL="0" indent="0">
              <a:lnSpc>
                <a:spcPct val="130000"/>
              </a:lnSpc>
              <a:buNone/>
            </a:pPr>
            <a:r>
              <a:rPr lang="en-US" sz="1200" dirty="0">
                <a:solidFill>
                  <a:srgbClr val="1A1210"/>
                </a:solidFill>
                <a:latin typeface="Calibri" pitchFamily="34" charset="0"/>
                <a:ea typeface="Calibri" pitchFamily="34" charset="-122"/>
                <a:cs typeface="Calibri" pitchFamily="34" charset="-120"/>
              </a:rPr>
              <a:t>RDR2 functions as a pastiche — it takes Turnerian elements (freedom, individualism, the struggle against nature) and treats them seriously to construct a believable narrative. The game validates Turner's claim that the American character was stamped by the frontier, even as it critiques the thesis's blind spots.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21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2500"/>
          </a:solidFill>
          <a:ln/>
        </p:spPr>
        <p:txBody>
          <a:bodyPr/>
          <a:lstStyle/>
          <a:p>
            <a:endParaRPr lang="en-US"/>
          </a:p>
        </p:txBody>
      </p:sp>
      <p:sp>
        <p:nvSpPr>
          <p:cNvPr id="3" name="Text 1"/>
          <p:cNvSpPr/>
          <p:nvPr/>
        </p:nvSpPr>
        <p:spPr>
          <a:xfrm>
            <a:off x="640080" y="320040"/>
            <a:ext cx="7772400" cy="640080"/>
          </a:xfrm>
          <a:prstGeom prst="rect">
            <a:avLst/>
          </a:prstGeom>
          <a:noFill/>
          <a:ln/>
        </p:spPr>
        <p:txBody>
          <a:bodyPr wrap="square" lIns="0" tIns="0" rIns="0" bIns="0" rtlCol="0" anchor="ctr"/>
          <a:lstStyle/>
          <a:p>
            <a:pPr marL="0" indent="0">
              <a:buNone/>
            </a:pPr>
            <a:r>
              <a:rPr lang="en-US" sz="3200" b="1" dirty="0">
                <a:solidFill>
                  <a:srgbClr val="F2E8D5"/>
                </a:solidFill>
                <a:latin typeface="Georgia" pitchFamily="34" charset="0"/>
                <a:ea typeface="Georgia" pitchFamily="34" charset="-122"/>
                <a:cs typeface="Georgia" pitchFamily="34" charset="-120"/>
              </a:rPr>
              <a:t>Questions</a:t>
            </a:r>
            <a:endParaRPr lang="en-US" sz="3200" dirty="0"/>
          </a:p>
        </p:txBody>
      </p:sp>
      <p:sp>
        <p:nvSpPr>
          <p:cNvPr id="4" name="Shape 2"/>
          <p:cNvSpPr/>
          <p:nvPr/>
        </p:nvSpPr>
        <p:spPr>
          <a:xfrm>
            <a:off x="640080" y="1188720"/>
            <a:ext cx="365760" cy="365760"/>
          </a:xfrm>
          <a:prstGeom prst="ellipse">
            <a:avLst/>
          </a:prstGeom>
          <a:solidFill>
            <a:srgbClr val="8B2500"/>
          </a:solidFill>
          <a:ln/>
        </p:spPr>
        <p:txBody>
          <a:bodyPr/>
          <a:lstStyle/>
          <a:p>
            <a:endParaRPr lang="en-US"/>
          </a:p>
        </p:txBody>
      </p:sp>
      <p:sp>
        <p:nvSpPr>
          <p:cNvPr id="5" name="Text 3"/>
          <p:cNvSpPr/>
          <p:nvPr/>
        </p:nvSpPr>
        <p:spPr>
          <a:xfrm>
            <a:off x="640080" y="1188720"/>
            <a:ext cx="365760" cy="36576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188720" y="1143000"/>
            <a:ext cx="7315200" cy="685800"/>
          </a:xfrm>
          <a:prstGeom prst="rect">
            <a:avLst/>
          </a:prstGeom>
          <a:noFill/>
          <a:ln/>
        </p:spPr>
        <p:txBody>
          <a:bodyPr wrap="square" lIns="0" tIns="0" rIns="0" bIns="0" rtlCol="0" anchor="ctr"/>
          <a:lstStyle/>
          <a:p>
            <a:pPr marL="0" indent="0">
              <a:lnSpc>
                <a:spcPct val="120000"/>
              </a:lnSpc>
              <a:buNone/>
            </a:pPr>
            <a:r>
              <a:rPr lang="en-US" sz="1300" dirty="0">
                <a:solidFill>
                  <a:srgbClr val="F2E8D5"/>
                </a:solidFill>
                <a:latin typeface="Calibri" pitchFamily="34" charset="0"/>
                <a:ea typeface="Calibri" pitchFamily="34" charset="-122"/>
                <a:cs typeface="Calibri" pitchFamily="34" charset="-120"/>
              </a:rPr>
              <a:t>Does playing RDR2 give us a meaningful understanding of the Western frontier — or does it romanticize what Turner described?</a:t>
            </a:r>
            <a:endParaRPr lang="en-US" sz="1300" dirty="0"/>
          </a:p>
        </p:txBody>
      </p:sp>
      <p:sp>
        <p:nvSpPr>
          <p:cNvPr id="7" name="Shape 5"/>
          <p:cNvSpPr/>
          <p:nvPr/>
        </p:nvSpPr>
        <p:spPr>
          <a:xfrm>
            <a:off x="640080" y="1965960"/>
            <a:ext cx="365760" cy="365760"/>
          </a:xfrm>
          <a:prstGeom prst="ellipse">
            <a:avLst/>
          </a:prstGeom>
          <a:solidFill>
            <a:srgbClr val="8B2500"/>
          </a:solidFill>
          <a:ln/>
        </p:spPr>
        <p:txBody>
          <a:bodyPr/>
          <a:lstStyle/>
          <a:p>
            <a:endParaRPr lang="en-US"/>
          </a:p>
        </p:txBody>
      </p:sp>
      <p:sp>
        <p:nvSpPr>
          <p:cNvPr id="8" name="Text 6"/>
          <p:cNvSpPr/>
          <p:nvPr/>
        </p:nvSpPr>
        <p:spPr>
          <a:xfrm>
            <a:off x="640080" y="1965960"/>
            <a:ext cx="365760" cy="36576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188720" y="1920240"/>
            <a:ext cx="7315200" cy="685800"/>
          </a:xfrm>
          <a:prstGeom prst="rect">
            <a:avLst/>
          </a:prstGeom>
          <a:noFill/>
          <a:ln/>
        </p:spPr>
        <p:txBody>
          <a:bodyPr wrap="square" lIns="0" tIns="0" rIns="0" bIns="0" rtlCol="0" anchor="ctr"/>
          <a:lstStyle/>
          <a:p>
            <a:pPr marL="0" indent="0">
              <a:lnSpc>
                <a:spcPct val="120000"/>
              </a:lnSpc>
              <a:buNone/>
            </a:pPr>
            <a:r>
              <a:rPr lang="en-US" sz="1300" dirty="0">
                <a:solidFill>
                  <a:srgbClr val="F2E8D5"/>
                </a:solidFill>
                <a:latin typeface="Calibri" pitchFamily="34" charset="0"/>
                <a:ea typeface="Calibri" pitchFamily="34" charset="-122"/>
                <a:cs typeface="Calibri" pitchFamily="34" charset="-120"/>
              </a:rPr>
              <a:t>The gang is portrayed sympathetically. How does this shape our relationship to Turner's "savagery vs. civilization" dichotomy?</a:t>
            </a:r>
            <a:endParaRPr lang="en-US" sz="1300" dirty="0"/>
          </a:p>
        </p:txBody>
      </p:sp>
      <p:sp>
        <p:nvSpPr>
          <p:cNvPr id="13" name="Shape 11"/>
          <p:cNvSpPr/>
          <p:nvPr/>
        </p:nvSpPr>
        <p:spPr>
          <a:xfrm>
            <a:off x="640080" y="2743200"/>
            <a:ext cx="365760" cy="365760"/>
          </a:xfrm>
          <a:prstGeom prst="ellipse">
            <a:avLst/>
          </a:prstGeom>
          <a:solidFill>
            <a:srgbClr val="8B2500"/>
          </a:solidFill>
          <a:ln/>
        </p:spPr>
        <p:txBody>
          <a:bodyPr/>
          <a:lstStyle/>
          <a:p>
            <a:endParaRPr lang="en-US"/>
          </a:p>
        </p:txBody>
      </p:sp>
      <p:sp>
        <p:nvSpPr>
          <p:cNvPr id="14" name="Text 12"/>
          <p:cNvSpPr/>
          <p:nvPr/>
        </p:nvSpPr>
        <p:spPr>
          <a:xfrm>
            <a:off x="640080" y="2743200"/>
            <a:ext cx="365760" cy="36576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rPr>
              <a:t>3</a:t>
            </a:r>
            <a:endParaRPr lang="en-US" sz="1400" dirty="0"/>
          </a:p>
        </p:txBody>
      </p:sp>
      <p:sp>
        <p:nvSpPr>
          <p:cNvPr id="15" name="Text 13"/>
          <p:cNvSpPr/>
          <p:nvPr/>
        </p:nvSpPr>
        <p:spPr>
          <a:xfrm>
            <a:off x="1188720" y="2697480"/>
            <a:ext cx="7315200" cy="685800"/>
          </a:xfrm>
          <a:prstGeom prst="rect">
            <a:avLst/>
          </a:prstGeom>
          <a:noFill/>
          <a:ln/>
        </p:spPr>
        <p:txBody>
          <a:bodyPr wrap="square" lIns="0" tIns="0" rIns="0" bIns="0" rtlCol="0" anchor="ctr"/>
          <a:lstStyle/>
          <a:p>
            <a:pPr marL="0" indent="0">
              <a:lnSpc>
                <a:spcPct val="120000"/>
              </a:lnSpc>
              <a:buNone/>
            </a:pPr>
            <a:r>
              <a:rPr lang="en-US" sz="1300" dirty="0">
                <a:solidFill>
                  <a:srgbClr val="F2E8D5"/>
                </a:solidFill>
                <a:latin typeface="Calibri" pitchFamily="34" charset="0"/>
                <a:ea typeface="Calibri" pitchFamily="34" charset="-122"/>
                <a:cs typeface="Calibri" pitchFamily="34" charset="-120"/>
              </a:rPr>
              <a:t>Turner saw the frontier as producing democracy and equality. The game shows it producing violence and hierarchy. Which interpretation do you find more convincing, and why?</a:t>
            </a:r>
            <a:endParaRPr lang="en-US" sz="1300" dirty="0"/>
          </a:p>
        </p:txBody>
      </p:sp>
      <p:sp>
        <p:nvSpPr>
          <p:cNvPr id="16" name="Shape 14"/>
          <p:cNvSpPr/>
          <p:nvPr/>
        </p:nvSpPr>
        <p:spPr>
          <a:xfrm>
            <a:off x="640080" y="3545525"/>
            <a:ext cx="365760" cy="365760"/>
          </a:xfrm>
          <a:prstGeom prst="ellipse">
            <a:avLst/>
          </a:prstGeom>
          <a:solidFill>
            <a:srgbClr val="8B2500"/>
          </a:solidFill>
          <a:ln/>
        </p:spPr>
        <p:txBody>
          <a:bodyPr/>
          <a:lstStyle/>
          <a:p>
            <a:endParaRPr lang="en-US"/>
          </a:p>
        </p:txBody>
      </p:sp>
      <p:sp>
        <p:nvSpPr>
          <p:cNvPr id="17" name="Text 15"/>
          <p:cNvSpPr/>
          <p:nvPr/>
        </p:nvSpPr>
        <p:spPr>
          <a:xfrm>
            <a:off x="640080" y="3545525"/>
            <a:ext cx="365760" cy="36576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rPr>
              <a:t>4</a:t>
            </a:r>
            <a:endParaRPr lang="en-US" sz="1400" dirty="0"/>
          </a:p>
        </p:txBody>
      </p:sp>
      <p:sp>
        <p:nvSpPr>
          <p:cNvPr id="18" name="Text 16"/>
          <p:cNvSpPr/>
          <p:nvPr/>
        </p:nvSpPr>
        <p:spPr>
          <a:xfrm>
            <a:off x="1188720" y="3499805"/>
            <a:ext cx="7315200" cy="685800"/>
          </a:xfrm>
          <a:prstGeom prst="rect">
            <a:avLst/>
          </a:prstGeom>
          <a:noFill/>
          <a:ln/>
        </p:spPr>
        <p:txBody>
          <a:bodyPr wrap="square" lIns="0" tIns="0" rIns="0" bIns="0" rtlCol="0" anchor="ctr"/>
          <a:lstStyle/>
          <a:p>
            <a:pPr marL="0" indent="0">
              <a:lnSpc>
                <a:spcPct val="120000"/>
              </a:lnSpc>
              <a:buNone/>
            </a:pPr>
            <a:r>
              <a:rPr lang="en-US" sz="1300" dirty="0">
                <a:solidFill>
                  <a:srgbClr val="F2E8D5"/>
                </a:solidFill>
                <a:latin typeface="Calibri" pitchFamily="34" charset="0"/>
                <a:ea typeface="Calibri" pitchFamily="34" charset="-122"/>
                <a:cs typeface="Calibri" pitchFamily="34" charset="-120"/>
              </a:rPr>
              <a:t>If Turner's frontier shaped the American character, what does it mean that millions of players now experience a digital version of that frontier? Is this a new form of myth-making?</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3" grpId="0" animBg="1"/>
      <p:bldP spid="14"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21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2500"/>
          </a:solidFill>
          <a:ln/>
        </p:spPr>
        <p:txBody>
          <a:bodyPr/>
          <a:lstStyle/>
          <a:p>
            <a:endParaRPr lang="en-US"/>
          </a:p>
        </p:txBody>
      </p:sp>
      <p:sp>
        <p:nvSpPr>
          <p:cNvPr id="3" name="Shape 1"/>
          <p:cNvSpPr/>
          <p:nvPr/>
        </p:nvSpPr>
        <p:spPr>
          <a:xfrm>
            <a:off x="0" y="5088636"/>
            <a:ext cx="9144000" cy="54864"/>
          </a:xfrm>
          <a:prstGeom prst="rect">
            <a:avLst/>
          </a:prstGeom>
          <a:solidFill>
            <a:srgbClr val="8B2500"/>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160520" y="640080"/>
            <a:ext cx="822960" cy="822960"/>
          </a:xfrm>
          <a:prstGeom prst="rect">
            <a:avLst/>
          </a:prstGeom>
        </p:spPr>
      </p:pic>
      <p:sp>
        <p:nvSpPr>
          <p:cNvPr id="5" name="Text 2"/>
          <p:cNvSpPr/>
          <p:nvPr/>
        </p:nvSpPr>
        <p:spPr>
          <a:xfrm>
            <a:off x="731520" y="1645920"/>
            <a:ext cx="7680960" cy="640080"/>
          </a:xfrm>
          <a:prstGeom prst="rect">
            <a:avLst/>
          </a:prstGeom>
          <a:noFill/>
          <a:ln/>
        </p:spPr>
        <p:txBody>
          <a:bodyPr wrap="square" rtlCol="0" anchor="ctr"/>
          <a:lstStyle/>
          <a:p>
            <a:pPr marL="0" indent="0" algn="ctr">
              <a:buNone/>
            </a:pPr>
            <a:r>
              <a:rPr lang="en-US" sz="3200" b="1" dirty="0">
                <a:solidFill>
                  <a:srgbClr val="F2E8D5"/>
                </a:solidFill>
                <a:latin typeface="Georgia" pitchFamily="34" charset="0"/>
                <a:ea typeface="Georgia" pitchFamily="34" charset="-122"/>
                <a:cs typeface="Georgia" pitchFamily="34" charset="-120"/>
              </a:rPr>
              <a:t>Further Reading</a:t>
            </a:r>
            <a:endParaRPr lang="en-US" sz="3200" dirty="0"/>
          </a:p>
        </p:txBody>
      </p:sp>
      <p:sp>
        <p:nvSpPr>
          <p:cNvPr id="6" name="Shape 3"/>
          <p:cNvSpPr/>
          <p:nvPr/>
        </p:nvSpPr>
        <p:spPr>
          <a:xfrm>
            <a:off x="3200400" y="2331720"/>
            <a:ext cx="2743200" cy="0"/>
          </a:xfrm>
          <a:prstGeom prst="line">
            <a:avLst/>
          </a:prstGeom>
          <a:noFill/>
          <a:ln w="19050">
            <a:solidFill>
              <a:srgbClr val="8B2500"/>
            </a:solidFill>
            <a:prstDash val="solid"/>
          </a:ln>
        </p:spPr>
        <p:txBody>
          <a:bodyPr/>
          <a:lstStyle/>
          <a:p>
            <a:endParaRPr lang="en-US"/>
          </a:p>
        </p:txBody>
      </p:sp>
      <p:sp>
        <p:nvSpPr>
          <p:cNvPr id="7" name="Shape 4"/>
          <p:cNvSpPr/>
          <p:nvPr/>
        </p:nvSpPr>
        <p:spPr>
          <a:xfrm>
            <a:off x="1828800" y="2679192"/>
            <a:ext cx="137160" cy="137160"/>
          </a:xfrm>
          <a:prstGeom prst="ellipse">
            <a:avLst/>
          </a:prstGeom>
          <a:solidFill>
            <a:srgbClr val="C4854C"/>
          </a:solidFill>
          <a:ln/>
        </p:spPr>
        <p:txBody>
          <a:bodyPr/>
          <a:lstStyle/>
          <a:p>
            <a:endParaRPr lang="en-US"/>
          </a:p>
        </p:txBody>
      </p:sp>
      <p:sp>
        <p:nvSpPr>
          <p:cNvPr id="8" name="Text 5"/>
          <p:cNvSpPr/>
          <p:nvPr/>
        </p:nvSpPr>
        <p:spPr>
          <a:xfrm>
            <a:off x="2148840" y="2606040"/>
            <a:ext cx="5486400" cy="411480"/>
          </a:xfrm>
          <a:prstGeom prst="rect">
            <a:avLst/>
          </a:prstGeom>
          <a:noFill/>
          <a:ln/>
        </p:spPr>
        <p:txBody>
          <a:bodyPr wrap="square" lIns="0" tIns="0" rIns="0" bIns="0" rtlCol="0" anchor="ctr"/>
          <a:lstStyle/>
          <a:p>
            <a:pPr marL="0" indent="0">
              <a:buNone/>
            </a:pPr>
            <a:r>
              <a:rPr lang="en-US" sz="1200" dirty="0">
                <a:solidFill>
                  <a:srgbClr val="F2E8D5"/>
                </a:solidFill>
                <a:latin typeface="Calibri" pitchFamily="34" charset="0"/>
                <a:ea typeface="Calibri" pitchFamily="34" charset="-122"/>
                <a:cs typeface="Calibri" pitchFamily="34" charset="-120"/>
              </a:rPr>
              <a:t>Frederick Jackson Turner, "The Significance of the Frontier in American History" (1893)</a:t>
            </a:r>
            <a:endParaRPr lang="en-US" sz="1200" dirty="0"/>
          </a:p>
        </p:txBody>
      </p:sp>
      <p:sp>
        <p:nvSpPr>
          <p:cNvPr id="9" name="Shape 6"/>
          <p:cNvSpPr/>
          <p:nvPr/>
        </p:nvSpPr>
        <p:spPr>
          <a:xfrm>
            <a:off x="1828800" y="3182112"/>
            <a:ext cx="137160" cy="137160"/>
          </a:xfrm>
          <a:prstGeom prst="ellipse">
            <a:avLst/>
          </a:prstGeom>
          <a:solidFill>
            <a:srgbClr val="C4854C"/>
          </a:solidFill>
          <a:ln/>
        </p:spPr>
        <p:txBody>
          <a:bodyPr/>
          <a:lstStyle/>
          <a:p>
            <a:endParaRPr lang="en-US"/>
          </a:p>
        </p:txBody>
      </p:sp>
      <p:sp>
        <p:nvSpPr>
          <p:cNvPr id="10" name="Text 7"/>
          <p:cNvSpPr/>
          <p:nvPr/>
        </p:nvSpPr>
        <p:spPr>
          <a:xfrm>
            <a:off x="2148840" y="3108960"/>
            <a:ext cx="5486400" cy="411480"/>
          </a:xfrm>
          <a:prstGeom prst="rect">
            <a:avLst/>
          </a:prstGeom>
          <a:noFill/>
          <a:ln/>
        </p:spPr>
        <p:txBody>
          <a:bodyPr wrap="square" lIns="0" tIns="0" rIns="0" bIns="0" rtlCol="0" anchor="ctr"/>
          <a:lstStyle/>
          <a:p>
            <a:pPr marL="0" indent="0">
              <a:buNone/>
            </a:pPr>
            <a:r>
              <a:rPr lang="en-US" sz="1200" dirty="0">
                <a:solidFill>
                  <a:srgbClr val="F2E8D5"/>
                </a:solidFill>
                <a:latin typeface="Calibri" pitchFamily="34" charset="0"/>
                <a:ea typeface="Calibri" pitchFamily="34" charset="-122"/>
                <a:cs typeface="Calibri" pitchFamily="34" charset="-120"/>
              </a:rPr>
              <a:t>Patricia Nelson Limerick, The Legacy of Conquest: The Unbroken Past of the American West (1987)</a:t>
            </a:r>
            <a:endParaRPr lang="en-US" sz="1200" dirty="0"/>
          </a:p>
        </p:txBody>
      </p:sp>
      <p:sp>
        <p:nvSpPr>
          <p:cNvPr id="11" name="Shape 8"/>
          <p:cNvSpPr/>
          <p:nvPr/>
        </p:nvSpPr>
        <p:spPr>
          <a:xfrm>
            <a:off x="1828800" y="3685032"/>
            <a:ext cx="137160" cy="137160"/>
          </a:xfrm>
          <a:prstGeom prst="ellipse">
            <a:avLst/>
          </a:prstGeom>
          <a:solidFill>
            <a:srgbClr val="C4854C"/>
          </a:solidFill>
          <a:ln/>
        </p:spPr>
        <p:txBody>
          <a:bodyPr/>
          <a:lstStyle/>
          <a:p>
            <a:endParaRPr lang="en-US"/>
          </a:p>
        </p:txBody>
      </p:sp>
      <p:sp>
        <p:nvSpPr>
          <p:cNvPr id="12" name="Text 9"/>
          <p:cNvSpPr/>
          <p:nvPr/>
        </p:nvSpPr>
        <p:spPr>
          <a:xfrm>
            <a:off x="2148840" y="3611880"/>
            <a:ext cx="5486400" cy="411480"/>
          </a:xfrm>
          <a:prstGeom prst="rect">
            <a:avLst/>
          </a:prstGeom>
          <a:noFill/>
          <a:ln/>
        </p:spPr>
        <p:txBody>
          <a:bodyPr wrap="square" lIns="0" tIns="0" rIns="0" bIns="0" rtlCol="0" anchor="ctr"/>
          <a:lstStyle/>
          <a:p>
            <a:pPr marL="0" indent="0">
              <a:buNone/>
            </a:pPr>
            <a:r>
              <a:rPr lang="en-US" sz="1200" dirty="0">
                <a:solidFill>
                  <a:srgbClr val="F2E8D5"/>
                </a:solidFill>
                <a:latin typeface="Calibri" pitchFamily="34" charset="0"/>
                <a:ea typeface="Calibri" pitchFamily="34" charset="-122"/>
                <a:cs typeface="Calibri" pitchFamily="34" charset="-120"/>
              </a:rPr>
              <a:t>Richard White, "It's Your Misfortune and None of My Own": A New History of the American West (1991)</a:t>
            </a:r>
            <a:endParaRPr lang="en-US" sz="1200" dirty="0"/>
          </a:p>
        </p:txBody>
      </p:sp>
      <p:sp>
        <p:nvSpPr>
          <p:cNvPr id="13" name="Shape 10"/>
          <p:cNvSpPr/>
          <p:nvPr/>
        </p:nvSpPr>
        <p:spPr>
          <a:xfrm>
            <a:off x="1828800" y="4187952"/>
            <a:ext cx="137160" cy="137160"/>
          </a:xfrm>
          <a:prstGeom prst="ellipse">
            <a:avLst/>
          </a:prstGeom>
          <a:solidFill>
            <a:srgbClr val="C4854C"/>
          </a:solidFill>
          <a:ln/>
        </p:spPr>
        <p:txBody>
          <a:bodyPr/>
          <a:lstStyle/>
          <a:p>
            <a:endParaRPr lang="en-US"/>
          </a:p>
        </p:txBody>
      </p:sp>
      <p:sp>
        <p:nvSpPr>
          <p:cNvPr id="14" name="Text 11"/>
          <p:cNvSpPr/>
          <p:nvPr/>
        </p:nvSpPr>
        <p:spPr>
          <a:xfrm>
            <a:off x="2148840" y="4114800"/>
            <a:ext cx="5486400" cy="411480"/>
          </a:xfrm>
          <a:prstGeom prst="rect">
            <a:avLst/>
          </a:prstGeom>
          <a:noFill/>
          <a:ln/>
        </p:spPr>
        <p:txBody>
          <a:bodyPr wrap="square" lIns="0" tIns="0" rIns="0" bIns="0" rtlCol="0" anchor="ctr"/>
          <a:lstStyle/>
          <a:p>
            <a:pPr marL="0" indent="0">
              <a:buNone/>
            </a:pPr>
            <a:r>
              <a:rPr lang="en-US" sz="1200" dirty="0">
                <a:solidFill>
                  <a:srgbClr val="F2E8D5"/>
                </a:solidFill>
                <a:latin typeface="Calibri" pitchFamily="34" charset="0"/>
                <a:ea typeface="Calibri" pitchFamily="34" charset="-122"/>
                <a:cs typeface="Calibri" pitchFamily="34" charset="-120"/>
              </a:rPr>
              <a:t>Roger Whitson, "Playing the Past: Nostalgia in Video Games and Electronic Literature" (2013)</a:t>
            </a:r>
            <a:endParaRPr lang="en-US" sz="1200" dirty="0"/>
          </a:p>
        </p:txBody>
      </p:sp>
      <p:sp>
        <p:nvSpPr>
          <p:cNvPr id="15" name="Text 12"/>
          <p:cNvSpPr/>
          <p:nvPr/>
        </p:nvSpPr>
        <p:spPr>
          <a:xfrm>
            <a:off x="1371600" y="4663440"/>
            <a:ext cx="6400800" cy="320040"/>
          </a:xfrm>
          <a:prstGeom prst="rect">
            <a:avLst/>
          </a:prstGeom>
          <a:noFill/>
          <a:ln/>
        </p:spPr>
        <p:txBody>
          <a:bodyPr wrap="square" rtlCol="0" anchor="ctr"/>
          <a:lstStyle/>
          <a:p>
            <a:pPr marL="0" indent="0" algn="ctr">
              <a:buNone/>
            </a:pPr>
            <a:r>
              <a:rPr lang="en-US" sz="1200" dirty="0">
                <a:solidFill>
                  <a:srgbClr val="8A7B6B"/>
                </a:solidFill>
                <a:latin typeface="Calibri" pitchFamily="34" charset="0"/>
                <a:ea typeface="Calibri" pitchFamily="34" charset="-122"/>
                <a:cs typeface="Calibri" pitchFamily="34" charset="-120"/>
              </a:rPr>
              <a:t>RPGs &amp; the Humanities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1198</Words>
  <Application>Microsoft Office PowerPoint</Application>
  <PresentationFormat>On-screen Show (16:9)</PresentationFormat>
  <Paragraphs>107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Frontier Thesis &amp; Red Dead Redemption 2</dc:title>
  <dc:subject>PptxGenJS Presentation</dc:subject>
  <dc:creator>Claude</dc:creator>
  <cp:lastModifiedBy>Michael Abbott</cp:lastModifiedBy>
  <cp:revision>3</cp:revision>
  <dcterms:created xsi:type="dcterms:W3CDTF">2026-02-13T23:49:00Z</dcterms:created>
  <dcterms:modified xsi:type="dcterms:W3CDTF">2026-02-17T02:36:14Z</dcterms:modified>
</cp:coreProperties>
</file>